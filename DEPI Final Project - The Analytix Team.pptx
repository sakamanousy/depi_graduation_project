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72" r:id="rId2"/>
    <p:sldId id="274" r:id="rId3"/>
    <p:sldId id="268" r:id="rId4"/>
    <p:sldId id="289" r:id="rId5"/>
    <p:sldId id="290" r:id="rId6"/>
    <p:sldId id="291" r:id="rId7"/>
    <p:sldId id="275" r:id="rId8"/>
    <p:sldId id="276" r:id="rId9"/>
    <p:sldId id="277" r:id="rId10"/>
    <p:sldId id="278" r:id="rId11"/>
    <p:sldId id="285" r:id="rId12"/>
    <p:sldId id="286" r:id="rId13"/>
    <p:sldId id="283" r:id="rId14"/>
    <p:sldId id="281" r:id="rId15"/>
    <p:sldId id="282" r:id="rId16"/>
    <p:sldId id="287" r:id="rId17"/>
    <p:sldId id="288" r:id="rId18"/>
    <p:sldId id="284" r:id="rId19"/>
  </p:sldIdLst>
  <p:sldSz cx="12192000" cy="6858000"/>
  <p:notesSz cx="6858000" cy="9144000"/>
  <p:embeddedFontLst>
    <p:embeddedFont>
      <p:font typeface="Fredoka SemiBold" pitchFamily="2" charset="-79"/>
      <p:bold r:id="rId21"/>
    </p:embeddedFont>
    <p:embeddedFont>
      <p:font typeface="Nizar Cocon Kurdish" panose="020A0503020102020204" pitchFamily="18" charset="-78"/>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jOmBtk5DbvnkierGKxpb4ZbKw0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4F4F"/>
    <a:srgbClr val="2AAF82"/>
    <a:srgbClr val="DCE9FF"/>
    <a:srgbClr val="C8FFE5"/>
    <a:srgbClr val="FFFFFF"/>
    <a:srgbClr val="1869A6"/>
    <a:srgbClr val="6395BE"/>
    <a:srgbClr val="6295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96" y="4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88114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52398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2" name="Google Shape;22;p1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8" name="Google Shape;28;p1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9" name="Google Shape;2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sp>
        <p:nvSpPr>
          <p:cNvPr id="36" name="Google Shape;3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9" name="Google Shape;39;p17"/>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pic>
        <p:nvPicPr>
          <p:cNvPr id="40" name="Google Shape;40;p17"/>
          <p:cNvPicPr preferRelativeResize="0"/>
          <p:nvPr/>
        </p:nvPicPr>
        <p:blipFill rotWithShape="1">
          <a:blip r:embed="rId2">
            <a:alphaModFix/>
          </a:blip>
          <a:srcRect/>
          <a:stretch/>
        </p:blipFill>
        <p:spPr>
          <a:xfrm>
            <a:off x="10711512" y="330213"/>
            <a:ext cx="1284576" cy="637759"/>
          </a:xfrm>
          <a:prstGeom prst="rect">
            <a:avLst/>
          </a:prstGeom>
          <a:noFill/>
          <a:ln>
            <a:noFill/>
          </a:ln>
        </p:spPr>
      </p:pic>
      <p:pic>
        <p:nvPicPr>
          <p:cNvPr id="41" name="Google Shape;41;p17"/>
          <p:cNvPicPr preferRelativeResize="0"/>
          <p:nvPr/>
        </p:nvPicPr>
        <p:blipFill rotWithShape="1">
          <a:blip r:embed="rId3">
            <a:alphaModFix/>
          </a:blip>
          <a:srcRect/>
          <a:stretch/>
        </p:blipFill>
        <p:spPr>
          <a:xfrm>
            <a:off x="93317" y="0"/>
            <a:ext cx="1489765" cy="1386637"/>
          </a:xfrm>
          <a:prstGeom prst="rect">
            <a:avLst/>
          </a:prstGeom>
          <a:noFill/>
          <a:ln>
            <a:noFill/>
          </a:ln>
        </p:spPr>
      </p:pic>
      <p:sp>
        <p:nvSpPr>
          <p:cNvPr id="42" name="Google Shape;4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pic>
        <p:nvPicPr>
          <p:cNvPr id="44" name="Google Shape;44;p18"/>
          <p:cNvPicPr preferRelativeResize="0"/>
          <p:nvPr/>
        </p:nvPicPr>
        <p:blipFill rotWithShape="1">
          <a:blip r:embed="rId2">
            <a:alphaModFix/>
          </a:blip>
          <a:srcRect/>
          <a:stretch/>
        </p:blipFill>
        <p:spPr>
          <a:xfrm>
            <a:off x="-6350" y="0"/>
            <a:ext cx="12192000" cy="6858000"/>
          </a:xfrm>
          <a:prstGeom prst="rect">
            <a:avLst/>
          </a:prstGeom>
          <a:noFill/>
          <a:ln>
            <a:noFill/>
          </a:ln>
        </p:spPr>
      </p:pic>
      <p:pic>
        <p:nvPicPr>
          <p:cNvPr id="45" name="Google Shape;45;p18"/>
          <p:cNvPicPr preferRelativeResize="0"/>
          <p:nvPr/>
        </p:nvPicPr>
        <p:blipFill rotWithShape="1">
          <a:blip r:embed="rId3">
            <a:alphaModFix/>
          </a:blip>
          <a:srcRect/>
          <a:stretch/>
        </p:blipFill>
        <p:spPr>
          <a:xfrm>
            <a:off x="10711512" y="330213"/>
            <a:ext cx="1284576" cy="637759"/>
          </a:xfrm>
          <a:prstGeom prst="rect">
            <a:avLst/>
          </a:prstGeom>
          <a:noFill/>
          <a:ln>
            <a:noFill/>
          </a:ln>
        </p:spPr>
      </p:pic>
      <p:sp>
        <p:nvSpPr>
          <p:cNvPr id="46" name="Google Shape;46;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8" name="Google Shape;4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9" name="Google Shape;49;p18"/>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0" name="Google Shape;50;p1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pic>
        <p:nvPicPr>
          <p:cNvPr id="51" name="Google Shape;51;p18"/>
          <p:cNvPicPr preferRelativeResize="0"/>
          <p:nvPr/>
        </p:nvPicPr>
        <p:blipFill rotWithShape="1">
          <a:blip r:embed="rId4">
            <a:alphaModFix/>
          </a:blip>
          <a:srcRect/>
          <a:stretch/>
        </p:blipFill>
        <p:spPr>
          <a:xfrm>
            <a:off x="93317" y="0"/>
            <a:ext cx="1489765" cy="1386637"/>
          </a:xfrm>
          <a:prstGeom prst="rect">
            <a:avLst/>
          </a:prstGeom>
          <a:noFill/>
          <a:ln>
            <a:noFill/>
          </a:ln>
        </p:spPr>
      </p:pic>
      <p:sp>
        <p:nvSpPr>
          <p:cNvPr id="52" name="Google Shape;52;p18"/>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9" name="Google Shape;59;p1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8" name="Google Shape;68;p2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9" name="Google Shape;6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5" name="Google Shape;75;p2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6" name="Google Shape;7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2"/>
          <p:cNvSpPr>
            <a:spLocks noGrp="1"/>
          </p:cNvSpPr>
          <p:nvPr>
            <p:ph type="pic" idx="2"/>
          </p:nvPr>
        </p:nvSpPr>
        <p:spPr>
          <a:xfrm>
            <a:off x="5183188" y="987425"/>
            <a:ext cx="6172200" cy="4873625"/>
          </a:xfrm>
          <a:prstGeom prst="rect">
            <a:avLst/>
          </a:prstGeom>
          <a:noFill/>
          <a:ln>
            <a:noFill/>
          </a:ln>
        </p:spPr>
      </p:sp>
      <p:sp>
        <p:nvSpPr>
          <p:cNvPr id="80" name="Google Shape;80;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2" name="Google Shape;82;p2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8" name="Google Shape;88;p2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9" name="Google Shape;8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94" name="Google Shape;94;p2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95" name="Google Shape;9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99" name="Google Shape;99;p2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0" name="Google Shape;10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13">
            <a:alphaModFix/>
          </a:blip>
          <a:srcRect/>
          <a:stretch/>
        </p:blipFill>
        <p:spPr>
          <a:xfrm>
            <a:off x="0" y="0"/>
            <a:ext cx="12192000" cy="6858000"/>
          </a:xfrm>
          <a:prstGeom prst="rect">
            <a:avLst/>
          </a:prstGeom>
          <a:noFill/>
          <a:ln>
            <a:noFill/>
          </a:ln>
        </p:spPr>
      </p:pic>
      <p:pic>
        <p:nvPicPr>
          <p:cNvPr id="11" name="Google Shape;11;p13"/>
          <p:cNvPicPr preferRelativeResize="0"/>
          <p:nvPr/>
        </p:nvPicPr>
        <p:blipFill rotWithShape="1">
          <a:blip r:embed="rId14">
            <a:alphaModFix/>
          </a:blip>
          <a:srcRect/>
          <a:stretch/>
        </p:blipFill>
        <p:spPr>
          <a:xfrm>
            <a:off x="10711512" y="330213"/>
            <a:ext cx="1284576" cy="637759"/>
          </a:xfrm>
          <a:prstGeom prst="rect">
            <a:avLst/>
          </a:prstGeom>
          <a:noFill/>
          <a:ln>
            <a:noFill/>
          </a:ln>
        </p:spPr>
      </p:pic>
      <p:sp>
        <p:nvSpPr>
          <p:cNvPr id="12" name="Google Shape;12;p13"/>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pic>
        <p:nvPicPr>
          <p:cNvPr id="13" name="Google Shape;13;p13"/>
          <p:cNvPicPr preferRelativeResize="0"/>
          <p:nvPr/>
        </p:nvPicPr>
        <p:blipFill rotWithShape="1">
          <a:blip r:embed="rId15">
            <a:alphaModFix/>
          </a:blip>
          <a:srcRect/>
          <a:stretch/>
        </p:blipFill>
        <p:spPr>
          <a:xfrm>
            <a:off x="93317" y="0"/>
            <a:ext cx="1489765" cy="1386637"/>
          </a:xfrm>
          <a:prstGeom prst="rect">
            <a:avLst/>
          </a:prstGeom>
          <a:noFill/>
          <a:ln>
            <a:noFill/>
          </a:ln>
        </p:spPr>
      </p:pic>
      <p:sp>
        <p:nvSpPr>
          <p:cNvPr id="14" name="Google Shape;14;p13"/>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15" name="Google Shape;1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8" name="Google Shape;18;p1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9" name="Google Shape;1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AEE7BB6-7681-2523-897D-1FA841F935C3}"/>
              </a:ext>
            </a:extLst>
          </p:cNvPr>
          <p:cNvSpPr>
            <a:spLocks noGrp="1"/>
          </p:cNvSpPr>
          <p:nvPr>
            <p:ph type="subTitle" idx="1"/>
          </p:nvPr>
        </p:nvSpPr>
        <p:spPr>
          <a:xfrm>
            <a:off x="981694" y="5024067"/>
            <a:ext cx="5114306" cy="1067975"/>
          </a:xfrm>
        </p:spPr>
        <p:txBody>
          <a:bodyPr/>
          <a:lstStyle/>
          <a:p>
            <a:pPr marL="228600" marR="0" lvl="0" indent="-228600" algn="l" rtl="0">
              <a:lnSpc>
                <a:spcPct val="90000"/>
              </a:lnSpc>
              <a:spcBef>
                <a:spcPts val="1000"/>
              </a:spcBef>
              <a:spcAft>
                <a:spcPts val="0"/>
              </a:spcAft>
              <a:buClr>
                <a:srgbClr val="0D0D0D"/>
              </a:buClr>
              <a:buSzPts val="1800"/>
              <a:buFont typeface="Arial"/>
              <a:buChar char="•"/>
            </a:pPr>
            <a:r>
              <a:rPr lang="en-US" sz="2400" b="0" i="0" u="none" strike="noStrike" cap="none" dirty="0">
                <a:solidFill>
                  <a:schemeClr val="tx1">
                    <a:lumMod val="75000"/>
                    <a:lumOff val="25000"/>
                  </a:schemeClr>
                </a:solidFill>
                <a:latin typeface="Nizar Cocon Kurdish" panose="020A0503020102020204" pitchFamily="18" charset="-78"/>
                <a:ea typeface="Arial"/>
                <a:cs typeface="Nizar Cocon Kurdish" panose="020A0503020102020204" pitchFamily="18" charset="-78"/>
                <a:sym typeface="Arial"/>
              </a:rPr>
              <a:t>Presenter's Name: Omar Hamdy</a:t>
            </a:r>
            <a:endParaRPr lang="en-US" dirty="0">
              <a:solidFill>
                <a:schemeClr val="tx1">
                  <a:lumMod val="75000"/>
                  <a:lumOff val="25000"/>
                </a:schemeClr>
              </a:solidFill>
              <a:latin typeface="Nizar Cocon Kurdish" panose="020A0503020102020204" pitchFamily="18" charset="-78"/>
              <a:cs typeface="Nizar Cocon Kurdish" panose="020A0503020102020204" pitchFamily="18" charset="-78"/>
            </a:endParaRPr>
          </a:p>
          <a:p>
            <a:pPr marL="228600" marR="0" lvl="0" indent="-228600" algn="l" rtl="0">
              <a:lnSpc>
                <a:spcPct val="90000"/>
              </a:lnSpc>
              <a:spcBef>
                <a:spcPts val="1000"/>
              </a:spcBef>
              <a:spcAft>
                <a:spcPts val="0"/>
              </a:spcAft>
              <a:buClr>
                <a:srgbClr val="0D0D0D"/>
              </a:buClr>
              <a:buSzPts val="1800"/>
              <a:buFont typeface="Arial"/>
              <a:buChar char="•"/>
            </a:pPr>
            <a:r>
              <a:rPr lang="en-US" sz="2400" b="0" i="0" u="none" strike="noStrike" cap="none" dirty="0">
                <a:solidFill>
                  <a:schemeClr val="tx1">
                    <a:lumMod val="75000"/>
                    <a:lumOff val="25000"/>
                  </a:schemeClr>
                </a:solidFill>
                <a:latin typeface="Nizar Cocon Kurdish" panose="020A0503020102020204" pitchFamily="18" charset="-78"/>
                <a:ea typeface="Arial"/>
                <a:cs typeface="Nizar Cocon Kurdish" panose="020A0503020102020204" pitchFamily="18" charset="-78"/>
                <a:sym typeface="Arial"/>
              </a:rPr>
              <a:t>Date: 17/5/2025</a:t>
            </a:r>
            <a:endParaRPr lang="en-US" dirty="0">
              <a:solidFill>
                <a:schemeClr val="tx1">
                  <a:lumMod val="75000"/>
                  <a:lumOff val="25000"/>
                </a:schemeClr>
              </a:solidFill>
              <a:latin typeface="Nizar Cocon Kurdish" panose="020A0503020102020204" pitchFamily="18" charset="-78"/>
              <a:cs typeface="Nizar Cocon Kurdish" panose="020A0503020102020204" pitchFamily="18" charset="-78"/>
            </a:endParaRPr>
          </a:p>
        </p:txBody>
      </p:sp>
      <p:sp>
        <p:nvSpPr>
          <p:cNvPr id="4" name="Slide Number Placeholder 3">
            <a:extLst>
              <a:ext uri="{FF2B5EF4-FFF2-40B4-BE49-F238E27FC236}">
                <a16:creationId xmlns:a16="http://schemas.microsoft.com/office/drawing/2014/main" id="{D35E85EB-B714-73B6-4247-43A7B359AE0C}"/>
              </a:ext>
            </a:extLst>
          </p:cNvPr>
          <p:cNvSpPr>
            <a:spLocks noGrp="1"/>
          </p:cNvSpPr>
          <p:nvPr>
            <p:ph type="sldNum" idx="12"/>
          </p:nvPr>
        </p:nvSpPr>
        <p:spPr>
          <a:xfrm>
            <a:off x="10960924" y="6356350"/>
            <a:ext cx="387928" cy="421574"/>
          </a:xfrm>
        </p:spPr>
        <p:txBody>
          <a:bodyPr/>
          <a:lstStyle/>
          <a:p>
            <a:pPr marL="0" lvl="0" indent="0" algn="r" rtl="0">
              <a:spcBef>
                <a:spcPts val="0"/>
              </a:spcBef>
              <a:spcAft>
                <a:spcPts val="0"/>
              </a:spcAft>
              <a:buNone/>
            </a:pPr>
            <a:fld id="{00000000-1234-1234-1234-123412341234}" type="slidenum">
              <a:rPr lang="en-US" sz="1400" smtClean="0">
                <a:latin typeface="Nizar Cocon Kurdish" panose="020A0503020102020204" pitchFamily="18" charset="-78"/>
                <a:cs typeface="Nizar Cocon Kurdish" panose="020A0503020102020204" pitchFamily="18" charset="-78"/>
              </a:rPr>
              <a:t>1</a:t>
            </a:fld>
            <a:endParaRPr lang="en-US" sz="1400" dirty="0">
              <a:latin typeface="Nizar Cocon Kurdish" panose="020A0503020102020204" pitchFamily="18" charset="-78"/>
              <a:cs typeface="Nizar Cocon Kurdish" panose="020A0503020102020204" pitchFamily="18" charset="-78"/>
            </a:endParaRPr>
          </a:p>
        </p:txBody>
      </p:sp>
      <p:sp>
        <p:nvSpPr>
          <p:cNvPr id="6" name="Rectangle 2">
            <a:extLst>
              <a:ext uri="{FF2B5EF4-FFF2-40B4-BE49-F238E27FC236}">
                <a16:creationId xmlns:a16="http://schemas.microsoft.com/office/drawing/2014/main" id="{60F42A6C-66ED-17BB-DADB-CB7A30BBF746}"/>
              </a:ext>
            </a:extLst>
          </p:cNvPr>
          <p:cNvSpPr>
            <a:spLocks noChangeArrowheads="1"/>
          </p:cNvSpPr>
          <p:nvPr/>
        </p:nvSpPr>
        <p:spPr bwMode="auto">
          <a:xfrm>
            <a:off x="2325584" y="1833933"/>
            <a:ext cx="754083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EG" altLang="ar-EG" sz="5400" u="none" strike="noStrike" cap="none" normalizeH="0" baseline="0" dirty="0">
                <a:ln>
                  <a:noFill/>
                </a:ln>
                <a:solidFill>
                  <a:schemeClr val="tx1"/>
                </a:solidFill>
                <a:effectLst/>
                <a:latin typeface="Fredoka SemiBold" pitchFamily="2" charset="-79"/>
                <a:cs typeface="Nizar Cocon Kurdish" panose="020A0503020102020204" pitchFamily="18" charset="-78"/>
              </a:rPr>
              <a:t>Superstore Business Performance Analysis  </a:t>
            </a:r>
            <a:r>
              <a:rPr lang="en-US" altLang="ar-EG" sz="5400" dirty="0">
                <a:solidFill>
                  <a:schemeClr val="tx1"/>
                </a:solidFill>
                <a:latin typeface="Fredoka SemiBold" pitchFamily="2" charset="-79"/>
                <a:cs typeface="Nizar Cocon Kurdish" panose="020A0503020102020204" pitchFamily="18" charset="-78"/>
              </a:rPr>
              <a:t>(</a:t>
            </a:r>
            <a:r>
              <a:rPr kumimoji="0" lang="en-US" altLang="ar-EG" sz="5400" u="none" strike="noStrike" cap="none" normalizeH="0" baseline="0" dirty="0">
                <a:ln>
                  <a:noFill/>
                </a:ln>
                <a:solidFill>
                  <a:schemeClr val="tx1"/>
                </a:solidFill>
                <a:effectLst/>
                <a:latin typeface="Fredoka SemiBold" pitchFamily="2" charset="-79"/>
                <a:cs typeface="Nizar Cocon Kurdish" panose="020A0503020102020204" pitchFamily="18" charset="-78"/>
              </a:rPr>
              <a:t>2014-2017)</a:t>
            </a:r>
            <a:endParaRPr kumimoji="0" lang="ar-EG" altLang="ar-EG" sz="5400" u="none" strike="noStrike" cap="none" normalizeH="0" baseline="0" dirty="0">
              <a:ln>
                <a:noFill/>
              </a:ln>
              <a:solidFill>
                <a:schemeClr val="tx1"/>
              </a:solidFill>
              <a:effectLst/>
              <a:latin typeface="Fredoka SemiBold" pitchFamily="2" charset="-79"/>
              <a:cs typeface="Nizar Cocon Kurdish" panose="020A0503020102020204" pitchFamily="18" charset="-78"/>
            </a:endParaRPr>
          </a:p>
        </p:txBody>
      </p:sp>
      <p:sp>
        <p:nvSpPr>
          <p:cNvPr id="5" name="TextBox 4">
            <a:extLst>
              <a:ext uri="{FF2B5EF4-FFF2-40B4-BE49-F238E27FC236}">
                <a16:creationId xmlns:a16="http://schemas.microsoft.com/office/drawing/2014/main" id="{1612FB15-81A7-583B-9BED-8E3C38B96440}"/>
              </a:ext>
            </a:extLst>
          </p:cNvPr>
          <p:cNvSpPr txBox="1"/>
          <p:nvPr/>
        </p:nvSpPr>
        <p:spPr>
          <a:xfrm>
            <a:off x="843148" y="6356350"/>
            <a:ext cx="2738253" cy="369332"/>
          </a:xfrm>
          <a:prstGeom prst="rect">
            <a:avLst/>
          </a:prstGeom>
          <a:noFill/>
        </p:spPr>
        <p:txBody>
          <a:bodyPr wrap="square" rtlCol="1">
            <a:spAutoFit/>
          </a:bodyPr>
          <a:lstStyle/>
          <a:p>
            <a:pPr algn="ctr"/>
            <a:r>
              <a:rPr lang="en-US" sz="1800" dirty="0">
                <a:solidFill>
                  <a:schemeClr val="bg1"/>
                </a:solidFill>
                <a:latin typeface="Nizar Cocon Kurdish" panose="020A0503020102020204" pitchFamily="18" charset="-78"/>
                <a:cs typeface="Nizar Cocon Kurdish" panose="020A0503020102020204" pitchFamily="18" charset="-78"/>
              </a:rPr>
              <a:t>17/5/2025</a:t>
            </a:r>
            <a:endParaRPr lang="ar-EG" sz="1800" dirty="0">
              <a:solidFill>
                <a:schemeClr val="bg1"/>
              </a:solidFill>
              <a:latin typeface="Nizar Cocon Kurdish" panose="020A0503020102020204" pitchFamily="18" charset="-78"/>
              <a:cs typeface="Nizar Cocon Kurdish" panose="020A0503020102020204" pitchFamily="18" charset="-78"/>
            </a:endParaRPr>
          </a:p>
        </p:txBody>
      </p:sp>
    </p:spTree>
    <p:extLst>
      <p:ext uri="{BB962C8B-B14F-4D97-AF65-F5344CB8AC3E}">
        <p14:creationId xmlns:p14="http://schemas.microsoft.com/office/powerpoint/2010/main" val="11419316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D65BE-CDAF-0981-2DC6-9F70B1BDD9A3}"/>
              </a:ext>
            </a:extLst>
          </p:cNvPr>
          <p:cNvSpPr>
            <a:spLocks noGrp="1"/>
          </p:cNvSpPr>
          <p:nvPr>
            <p:ph type="title"/>
          </p:nvPr>
        </p:nvSpPr>
        <p:spPr>
          <a:xfrm>
            <a:off x="838200" y="501650"/>
            <a:ext cx="10515600" cy="679904"/>
          </a:xfrm>
        </p:spPr>
        <p:txBody>
          <a:bodyPr>
            <a:normAutofit fontScale="90000"/>
          </a:bodyPr>
          <a:lstStyle/>
          <a:p>
            <a:pPr algn="ctr"/>
            <a:r>
              <a:rPr lang="hr-HR" dirty="0">
                <a:solidFill>
                  <a:srgbClr val="2AAF82"/>
                </a:solidFill>
                <a:latin typeface="Nizar Cocon Kurdish" panose="020A0503020102020204" pitchFamily="18" charset="-78"/>
                <a:cs typeface="Nizar Cocon Kurdish" panose="020A0503020102020204" pitchFamily="18" charset="-78"/>
              </a:rPr>
              <a:t>Project Idea</a:t>
            </a:r>
            <a:endParaRPr lang="ar-EG" dirty="0">
              <a:solidFill>
                <a:srgbClr val="2AAF82"/>
              </a:solidFill>
              <a:latin typeface="Nizar Cocon Kurdish" panose="020A0503020102020204" pitchFamily="18" charset="-78"/>
              <a:cs typeface="Nizar Cocon Kurdish" panose="020A0503020102020204" pitchFamily="18" charset="-78"/>
            </a:endParaRPr>
          </a:p>
        </p:txBody>
      </p:sp>
      <p:sp>
        <p:nvSpPr>
          <p:cNvPr id="4" name="Slide Number Placeholder 3">
            <a:extLst>
              <a:ext uri="{FF2B5EF4-FFF2-40B4-BE49-F238E27FC236}">
                <a16:creationId xmlns:a16="http://schemas.microsoft.com/office/drawing/2014/main" id="{12620E57-0835-BF1E-102B-5A142ACF8F35}"/>
              </a:ext>
            </a:extLst>
          </p:cNvPr>
          <p:cNvSpPr>
            <a:spLocks noGrp="1"/>
          </p:cNvSpPr>
          <p:nvPr>
            <p:ph type="sldNum" idx="12"/>
          </p:nvPr>
        </p:nvSpPr>
        <p:spPr>
          <a:xfrm>
            <a:off x="8605652" y="6363608"/>
            <a:ext cx="2743200" cy="365125"/>
          </a:xfrm>
        </p:spPr>
        <p:txBody>
          <a:bodyPr/>
          <a:lstStyle/>
          <a:p>
            <a:pPr marL="0" lvl="0" indent="0" algn="r" rtl="0">
              <a:spcBef>
                <a:spcPts val="0"/>
              </a:spcBef>
              <a:spcAft>
                <a:spcPts val="0"/>
              </a:spcAft>
              <a:buNone/>
            </a:pPr>
            <a:fld id="{00000000-1234-1234-1234-123412341234}" type="slidenum">
              <a:rPr lang="en-US" smtClean="0">
                <a:latin typeface="Nizar Cocon Kurdish" panose="020A0503020102020204" pitchFamily="18" charset="-78"/>
                <a:cs typeface="Nizar Cocon Kurdish" panose="020A0503020102020204" pitchFamily="18" charset="-78"/>
              </a:rPr>
              <a:t>2</a:t>
            </a:fld>
            <a:endParaRPr lang="en-US" dirty="0">
              <a:latin typeface="Nizar Cocon Kurdish" panose="020A0503020102020204" pitchFamily="18" charset="-78"/>
              <a:cs typeface="Nizar Cocon Kurdish" panose="020A0503020102020204" pitchFamily="18" charset="-78"/>
            </a:endParaRPr>
          </a:p>
        </p:txBody>
      </p:sp>
      <p:sp>
        <p:nvSpPr>
          <p:cNvPr id="10" name="TextBox 9">
            <a:extLst>
              <a:ext uri="{FF2B5EF4-FFF2-40B4-BE49-F238E27FC236}">
                <a16:creationId xmlns:a16="http://schemas.microsoft.com/office/drawing/2014/main" id="{15A8DD8F-DE49-FE6F-C234-C936E647E082}"/>
              </a:ext>
            </a:extLst>
          </p:cNvPr>
          <p:cNvSpPr txBox="1"/>
          <p:nvPr/>
        </p:nvSpPr>
        <p:spPr>
          <a:xfrm>
            <a:off x="476463" y="2353246"/>
            <a:ext cx="5211818" cy="2308324"/>
          </a:xfrm>
          <a:prstGeom prst="rect">
            <a:avLst/>
          </a:prstGeom>
          <a:noFill/>
        </p:spPr>
        <p:txBody>
          <a:bodyPr wrap="square">
            <a:spAutoFit/>
          </a:bodyPr>
          <a:lstStyle/>
          <a:p>
            <a:endParaRPr lang="en-US" sz="1600" dirty="0">
              <a:solidFill>
                <a:schemeClr val="tx1">
                  <a:lumMod val="65000"/>
                  <a:lumOff val="35000"/>
                </a:schemeClr>
              </a:solidFill>
              <a:latin typeface="Fredoka SemiBold" pitchFamily="2" charset="-79"/>
              <a:cs typeface="Fredoka SemiBold" pitchFamily="2" charset="-79"/>
            </a:endParaRPr>
          </a:p>
          <a:p>
            <a:r>
              <a:rPr lang="en-US" sz="1600" b="1" dirty="0">
                <a:latin typeface="Fredoka SemiBold" pitchFamily="2" charset="-79"/>
                <a:cs typeface="Fredoka SemiBold" pitchFamily="2" charset="-79"/>
              </a:rPr>
              <a:t>- Proposed Solution:</a:t>
            </a:r>
            <a:br>
              <a:rPr lang="en-US" sz="1600" dirty="0">
                <a:latin typeface="Fredoka SemiBold" pitchFamily="2" charset="-79"/>
                <a:cs typeface="Fredoka SemiBold" pitchFamily="2" charset="-79"/>
              </a:rPr>
            </a:br>
            <a:r>
              <a:rPr lang="en-US" sz="1600" dirty="0">
                <a:solidFill>
                  <a:schemeClr val="tx1">
                    <a:lumMod val="65000"/>
                    <a:lumOff val="35000"/>
                  </a:schemeClr>
                </a:solidFill>
                <a:latin typeface="Fredoka SemiBold" pitchFamily="2" charset="-79"/>
                <a:cs typeface="Fredoka SemiBold" pitchFamily="2" charset="-79"/>
              </a:rPr>
              <a:t>I conducted a comprehensive performance analysis of Superstore data (2014–2017), focusing not only on sales but also on profit trends, quantities sold, order volumes, customer behavior, product categories, regions, and shipping methods. Using data cleaning, modeling, and visualization, I created dashboards that deliver clear, data-driven insights.</a:t>
            </a:r>
          </a:p>
        </p:txBody>
      </p:sp>
      <p:sp>
        <p:nvSpPr>
          <p:cNvPr id="8" name="TextBox 7">
            <a:extLst>
              <a:ext uri="{FF2B5EF4-FFF2-40B4-BE49-F238E27FC236}">
                <a16:creationId xmlns:a16="http://schemas.microsoft.com/office/drawing/2014/main" id="{1EE42118-83A6-6EAD-51BE-19DC2838F7CE}"/>
              </a:ext>
            </a:extLst>
          </p:cNvPr>
          <p:cNvSpPr txBox="1"/>
          <p:nvPr/>
        </p:nvSpPr>
        <p:spPr>
          <a:xfrm>
            <a:off x="843148" y="6356350"/>
            <a:ext cx="2738253" cy="369332"/>
          </a:xfrm>
          <a:prstGeom prst="rect">
            <a:avLst/>
          </a:prstGeom>
          <a:noFill/>
        </p:spPr>
        <p:txBody>
          <a:bodyPr wrap="square" rtlCol="1">
            <a:spAutoFit/>
          </a:bodyPr>
          <a:lstStyle/>
          <a:p>
            <a:pPr algn="ctr"/>
            <a:r>
              <a:rPr lang="en-US" sz="1800" dirty="0">
                <a:solidFill>
                  <a:schemeClr val="bg1"/>
                </a:solidFill>
                <a:latin typeface="Nizar Cocon Kurdish" panose="020A0503020102020204" pitchFamily="18" charset="-78"/>
                <a:cs typeface="Nizar Cocon Kurdish" panose="020A0503020102020204" pitchFamily="18" charset="-78"/>
              </a:rPr>
              <a:t>17/5/2025</a:t>
            </a:r>
            <a:endParaRPr lang="ar-EG" sz="1800" dirty="0">
              <a:solidFill>
                <a:schemeClr val="bg1"/>
              </a:solidFill>
              <a:latin typeface="Nizar Cocon Kurdish" panose="020A0503020102020204" pitchFamily="18" charset="-78"/>
              <a:cs typeface="Nizar Cocon Kurdish" panose="020A0503020102020204" pitchFamily="18" charset="-78"/>
            </a:endParaRPr>
          </a:p>
        </p:txBody>
      </p:sp>
      <p:sp>
        <p:nvSpPr>
          <p:cNvPr id="9" name="TextBox 8">
            <a:extLst>
              <a:ext uri="{FF2B5EF4-FFF2-40B4-BE49-F238E27FC236}">
                <a16:creationId xmlns:a16="http://schemas.microsoft.com/office/drawing/2014/main" id="{AEB5C79F-83B5-09B0-AFC8-9746A5E911A1}"/>
              </a:ext>
            </a:extLst>
          </p:cNvPr>
          <p:cNvSpPr txBox="1"/>
          <p:nvPr/>
        </p:nvSpPr>
        <p:spPr>
          <a:xfrm>
            <a:off x="476463" y="1314178"/>
            <a:ext cx="11291984" cy="1077218"/>
          </a:xfrm>
          <a:prstGeom prst="rect">
            <a:avLst/>
          </a:prstGeom>
          <a:noFill/>
        </p:spPr>
        <p:txBody>
          <a:bodyPr wrap="square">
            <a:spAutoFit/>
          </a:bodyPr>
          <a:lstStyle/>
          <a:p>
            <a:r>
              <a:rPr lang="en-US" sz="1600" b="1" dirty="0">
                <a:latin typeface="Fredoka SemiBold" pitchFamily="2" charset="-79"/>
                <a:cs typeface="Fredoka SemiBold" pitchFamily="2" charset="-79"/>
              </a:rPr>
              <a:t>- Problem:</a:t>
            </a:r>
            <a:br>
              <a:rPr lang="en-US" sz="1600" dirty="0">
                <a:latin typeface="Fredoka SemiBold" pitchFamily="2" charset="-79"/>
                <a:cs typeface="Fredoka SemiBold" pitchFamily="2" charset="-79"/>
              </a:rPr>
            </a:br>
            <a:r>
              <a:rPr lang="en-US" sz="1600" dirty="0">
                <a:solidFill>
                  <a:schemeClr val="tx1">
                    <a:lumMod val="65000"/>
                    <a:lumOff val="35000"/>
                  </a:schemeClr>
                </a:solidFill>
                <a:latin typeface="Fredoka SemiBold" pitchFamily="2" charset="-79"/>
                <a:cs typeface="Fredoka SemiBold" pitchFamily="2" charset="-79"/>
              </a:rPr>
              <a:t>Superstores generate large volumes of sales data over time, but decision-makers often struggle to extract actionable insights related to profit, order trends, product performance, and regional demand. Without proper analysis, opportunities for growth, efficiency, and customer targeting are missed.</a:t>
            </a:r>
          </a:p>
        </p:txBody>
      </p:sp>
      <p:sp>
        <p:nvSpPr>
          <p:cNvPr id="12" name="TextBox 11">
            <a:extLst>
              <a:ext uri="{FF2B5EF4-FFF2-40B4-BE49-F238E27FC236}">
                <a16:creationId xmlns:a16="http://schemas.microsoft.com/office/drawing/2014/main" id="{E36F364E-C733-36C6-887B-3208B028E550}"/>
              </a:ext>
            </a:extLst>
          </p:cNvPr>
          <p:cNvSpPr txBox="1"/>
          <p:nvPr/>
        </p:nvSpPr>
        <p:spPr>
          <a:xfrm>
            <a:off x="476463" y="4955654"/>
            <a:ext cx="10872389" cy="1323439"/>
          </a:xfrm>
          <a:prstGeom prst="rect">
            <a:avLst/>
          </a:prstGeom>
          <a:noFill/>
        </p:spPr>
        <p:txBody>
          <a:bodyPr wrap="square">
            <a:spAutoFit/>
          </a:bodyPr>
          <a:lstStyle/>
          <a:p>
            <a:r>
              <a:rPr lang="en-US" sz="1600" b="1" dirty="0">
                <a:latin typeface="Fredoka SemiBold" pitchFamily="2" charset="-79"/>
                <a:cs typeface="Fredoka SemiBold" pitchFamily="2" charset="-79"/>
              </a:rPr>
              <a:t>- Unique Value Proposition:</a:t>
            </a:r>
            <a:br>
              <a:rPr lang="en-US" sz="1600" dirty="0">
                <a:latin typeface="Fredoka SemiBold" pitchFamily="2" charset="-79"/>
                <a:cs typeface="Fredoka SemiBold" pitchFamily="2" charset="-79"/>
              </a:rPr>
            </a:br>
            <a:r>
              <a:rPr lang="en-US" sz="1600" dirty="0">
                <a:solidFill>
                  <a:schemeClr val="tx1">
                    <a:lumMod val="65000"/>
                    <a:lumOff val="35000"/>
                  </a:schemeClr>
                </a:solidFill>
                <a:latin typeface="Fredoka SemiBold" pitchFamily="2" charset="-79"/>
                <a:cs typeface="Fredoka SemiBold" pitchFamily="2" charset="-79"/>
              </a:rPr>
              <a:t>Unlike basic sales reports, this project offers a multi-dimensional analysis that uncovers deep patterns across time, geography, and product types. It combines strong data preprocessing (Python, SQL) with professional-level visualization (Tableau, Figma), providing business leaders with actionable recommendations to boost profitability and operational performance.</a:t>
            </a:r>
          </a:p>
        </p:txBody>
      </p:sp>
      <p:pic>
        <p:nvPicPr>
          <p:cNvPr id="16" name="Picture 15">
            <a:extLst>
              <a:ext uri="{FF2B5EF4-FFF2-40B4-BE49-F238E27FC236}">
                <a16:creationId xmlns:a16="http://schemas.microsoft.com/office/drawing/2014/main" id="{7C29F3C2-22F0-F673-49B0-B38DF5896EF8}"/>
              </a:ext>
            </a:extLst>
          </p:cNvPr>
          <p:cNvPicPr>
            <a:picLocks noChangeAspect="1"/>
          </p:cNvPicPr>
          <p:nvPr/>
        </p:nvPicPr>
        <p:blipFill>
          <a:blip r:embed="rId2"/>
          <a:srcRect t="16244"/>
          <a:stretch/>
        </p:blipFill>
        <p:spPr>
          <a:xfrm>
            <a:off x="5258491" y="2353246"/>
            <a:ext cx="7032469" cy="3106897"/>
          </a:xfrm>
          <a:prstGeom prst="rect">
            <a:avLst/>
          </a:prstGeom>
        </p:spPr>
      </p:pic>
    </p:spTree>
    <p:extLst>
      <p:ext uri="{BB962C8B-B14F-4D97-AF65-F5344CB8AC3E}">
        <p14:creationId xmlns:p14="http://schemas.microsoft.com/office/powerpoint/2010/main" val="42941079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E0B1C0-81F3-E4A4-E507-B14CCA7C09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Nizar Cocon Kurdish" panose="020A0503020102020204" pitchFamily="18" charset="-78"/>
                <a:cs typeface="Nizar Cocon Kurdish" panose="020A0503020102020204" pitchFamily="18" charset="-78"/>
              </a:rPr>
              <a:t>3</a:t>
            </a:fld>
            <a:endParaRPr lang="en-US" dirty="0">
              <a:latin typeface="Nizar Cocon Kurdish" panose="020A0503020102020204" pitchFamily="18" charset="-78"/>
              <a:cs typeface="Nizar Cocon Kurdish" panose="020A0503020102020204" pitchFamily="18" charset="-78"/>
            </a:endParaRPr>
          </a:p>
        </p:txBody>
      </p:sp>
      <p:pic>
        <p:nvPicPr>
          <p:cNvPr id="4" name="Picture 3" descr="A diagram of steps sequence&#10;&#10;AI-generated content may be incorrect.">
            <a:extLst>
              <a:ext uri="{FF2B5EF4-FFF2-40B4-BE49-F238E27FC236}">
                <a16:creationId xmlns:a16="http://schemas.microsoft.com/office/drawing/2014/main" id="{289E7DEE-3A9A-AB2F-2882-CE129C413B6B}"/>
              </a:ext>
            </a:extLst>
          </p:cNvPr>
          <p:cNvPicPr>
            <a:picLocks noChangeAspect="1"/>
          </p:cNvPicPr>
          <p:nvPr/>
        </p:nvPicPr>
        <p:blipFill>
          <a:blip r:embed="rId2"/>
          <a:stretch>
            <a:fillRect/>
          </a:stretch>
        </p:blipFill>
        <p:spPr>
          <a:xfrm>
            <a:off x="734290" y="893808"/>
            <a:ext cx="10723419" cy="5070384"/>
          </a:xfrm>
          <a:prstGeom prst="rect">
            <a:avLst/>
          </a:prstGeom>
        </p:spPr>
      </p:pic>
      <p:sp>
        <p:nvSpPr>
          <p:cNvPr id="5" name="TextBox 4">
            <a:extLst>
              <a:ext uri="{FF2B5EF4-FFF2-40B4-BE49-F238E27FC236}">
                <a16:creationId xmlns:a16="http://schemas.microsoft.com/office/drawing/2014/main" id="{24590D5F-075F-023E-F864-2DC2ADCCC093}"/>
              </a:ext>
            </a:extLst>
          </p:cNvPr>
          <p:cNvSpPr txBox="1"/>
          <p:nvPr/>
        </p:nvSpPr>
        <p:spPr>
          <a:xfrm>
            <a:off x="843148" y="6356350"/>
            <a:ext cx="2738253" cy="369332"/>
          </a:xfrm>
          <a:prstGeom prst="rect">
            <a:avLst/>
          </a:prstGeom>
          <a:noFill/>
        </p:spPr>
        <p:txBody>
          <a:bodyPr wrap="square" rtlCol="1">
            <a:spAutoFit/>
          </a:bodyPr>
          <a:lstStyle/>
          <a:p>
            <a:pPr algn="ctr"/>
            <a:r>
              <a:rPr lang="en-US" sz="1800" dirty="0">
                <a:solidFill>
                  <a:schemeClr val="bg1"/>
                </a:solidFill>
                <a:latin typeface="Nizar Cocon Kurdish" panose="020A0503020102020204" pitchFamily="18" charset="-78"/>
                <a:cs typeface="Nizar Cocon Kurdish" panose="020A0503020102020204" pitchFamily="18" charset="-78"/>
              </a:rPr>
              <a:t>17/5/2025</a:t>
            </a:r>
            <a:endParaRPr lang="ar-EG" sz="1800" dirty="0">
              <a:solidFill>
                <a:schemeClr val="bg1"/>
              </a:solidFill>
              <a:latin typeface="Nizar Cocon Kurdish" panose="020A0503020102020204" pitchFamily="18" charset="-78"/>
              <a:cs typeface="Nizar Cocon Kurdish" panose="020A0503020102020204" pitchFamily="18" charset="-78"/>
            </a:endParaRPr>
          </a:p>
        </p:txBody>
      </p:sp>
    </p:spTree>
    <p:extLst>
      <p:ext uri="{BB962C8B-B14F-4D97-AF65-F5344CB8AC3E}">
        <p14:creationId xmlns:p14="http://schemas.microsoft.com/office/powerpoint/2010/main" val="8345226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73C64-7B9D-1B16-3F98-FB53D89CB54A}"/>
              </a:ext>
            </a:extLst>
          </p:cNvPr>
          <p:cNvSpPr>
            <a:spLocks noGrp="1"/>
          </p:cNvSpPr>
          <p:nvPr>
            <p:ph type="title"/>
          </p:nvPr>
        </p:nvSpPr>
        <p:spPr/>
        <p:txBody>
          <a:bodyPr/>
          <a:lstStyle/>
          <a:p>
            <a:pPr algn="ctr"/>
            <a:r>
              <a:rPr lang="en-US" sz="4400" b="1" dirty="0">
                <a:solidFill>
                  <a:srgbClr val="2AAF82"/>
                </a:solidFill>
                <a:latin typeface="Fredoka SemiBold" pitchFamily="2" charset="-79"/>
                <a:cs typeface="Fredoka SemiBold" pitchFamily="2" charset="-79"/>
              </a:rPr>
              <a:t>Visual Layout</a:t>
            </a:r>
          </a:p>
        </p:txBody>
      </p:sp>
      <p:sp>
        <p:nvSpPr>
          <p:cNvPr id="3" name="Text Placeholder 2">
            <a:extLst>
              <a:ext uri="{FF2B5EF4-FFF2-40B4-BE49-F238E27FC236}">
                <a16:creationId xmlns:a16="http://schemas.microsoft.com/office/drawing/2014/main" id="{9DE97FE3-CE7C-3506-B397-022D34ED8CBA}"/>
              </a:ext>
            </a:extLst>
          </p:cNvPr>
          <p:cNvSpPr>
            <a:spLocks noGrp="1"/>
          </p:cNvSpPr>
          <p:nvPr>
            <p:ph type="body" idx="1"/>
          </p:nvPr>
        </p:nvSpPr>
        <p:spPr/>
        <p:txBody>
          <a:bodyPr>
            <a:normAutofit/>
          </a:bodyPr>
          <a:lstStyle/>
          <a:p>
            <a:r>
              <a:rPr lang="en-US" sz="1800" dirty="0">
                <a:latin typeface="Fredoka SemiBold" pitchFamily="2" charset="-79"/>
                <a:cs typeface="Fredoka SemiBold" pitchFamily="2" charset="-79"/>
              </a:rPr>
              <a:t>We developed a clean, intuitive dashboard using </a:t>
            </a:r>
            <a:r>
              <a:rPr lang="en-US" sz="1800" b="1" dirty="0">
                <a:latin typeface="Fredoka SemiBold" pitchFamily="2" charset="-79"/>
                <a:cs typeface="Fredoka SemiBold" pitchFamily="2" charset="-79"/>
              </a:rPr>
              <a:t>Draw.io</a:t>
            </a:r>
            <a:r>
              <a:rPr lang="en-US" sz="1800" dirty="0">
                <a:latin typeface="Fredoka SemiBold" pitchFamily="2" charset="-79"/>
                <a:cs typeface="Fredoka SemiBold" pitchFamily="2" charset="-79"/>
              </a:rPr>
              <a:t> for initial wireframes and </a:t>
            </a:r>
            <a:r>
              <a:rPr lang="en-US" sz="1800" b="1" dirty="0">
                <a:latin typeface="Fredoka SemiBold" pitchFamily="2" charset="-79"/>
                <a:cs typeface="Fredoka SemiBold" pitchFamily="2" charset="-79"/>
              </a:rPr>
              <a:t>Figma</a:t>
            </a:r>
            <a:r>
              <a:rPr lang="en-US" sz="1800" dirty="0">
                <a:latin typeface="Fredoka SemiBold" pitchFamily="2" charset="-79"/>
                <a:cs typeface="Fredoka SemiBold" pitchFamily="2" charset="-79"/>
              </a:rPr>
              <a:t> for UI design. The layout strategically emphasizes key KPIs to support data-driven decisions:</a:t>
            </a:r>
          </a:p>
          <a:p>
            <a:pPr>
              <a:buFont typeface="Arial" panose="020B0604020202020204" pitchFamily="34" charset="0"/>
              <a:buChar char="•"/>
            </a:pPr>
            <a:r>
              <a:rPr lang="en-US" sz="1800" b="1" dirty="0">
                <a:latin typeface="Fredoka SemiBold" pitchFamily="2" charset="-79"/>
                <a:cs typeface="Fredoka SemiBold" pitchFamily="2" charset="-79"/>
              </a:rPr>
              <a:t>Primary KPIs:</a:t>
            </a:r>
            <a:r>
              <a:rPr lang="en-US" sz="1800" dirty="0">
                <a:latin typeface="Fredoka SemiBold" pitchFamily="2" charset="-79"/>
                <a:cs typeface="Fredoka SemiBold" pitchFamily="2" charset="-79"/>
              </a:rPr>
              <a:t> </a:t>
            </a:r>
            <a:r>
              <a:rPr lang="en-US" sz="1800" dirty="0">
                <a:solidFill>
                  <a:srgbClr val="4F4F4F"/>
                </a:solidFill>
                <a:latin typeface="Fredoka SemiBold" pitchFamily="2" charset="-79"/>
                <a:cs typeface="Fredoka SemiBold" pitchFamily="2" charset="-79"/>
              </a:rPr>
              <a:t>Total Sales, Profit, Orders, and Customers</a:t>
            </a:r>
          </a:p>
          <a:p>
            <a:pPr>
              <a:buFont typeface="Arial" panose="020B0604020202020204" pitchFamily="34" charset="0"/>
              <a:buChar char="•"/>
            </a:pPr>
            <a:r>
              <a:rPr lang="en-US" sz="1800" b="1" dirty="0">
                <a:latin typeface="Fredoka SemiBold" pitchFamily="2" charset="-79"/>
                <a:cs typeface="Fredoka SemiBold" pitchFamily="2" charset="-79"/>
              </a:rPr>
              <a:t>Interactive Filters:</a:t>
            </a:r>
            <a:r>
              <a:rPr lang="en-US" sz="1800" dirty="0">
                <a:latin typeface="Fredoka SemiBold" pitchFamily="2" charset="-79"/>
                <a:cs typeface="Fredoka SemiBold" pitchFamily="2" charset="-79"/>
              </a:rPr>
              <a:t> </a:t>
            </a:r>
            <a:r>
              <a:rPr lang="en-US" sz="1800" dirty="0">
                <a:solidFill>
                  <a:srgbClr val="4F4F4F"/>
                </a:solidFill>
                <a:latin typeface="Fredoka SemiBold" pitchFamily="2" charset="-79"/>
                <a:cs typeface="Fredoka SemiBold" pitchFamily="2" charset="-79"/>
              </a:rPr>
              <a:t>Year, Region, Category, and Segment</a:t>
            </a:r>
          </a:p>
          <a:p>
            <a:pPr>
              <a:buFont typeface="Arial" panose="020B0604020202020204" pitchFamily="34" charset="0"/>
              <a:buChar char="•"/>
            </a:pPr>
            <a:r>
              <a:rPr lang="en-US" sz="1800" b="1" dirty="0">
                <a:latin typeface="Fredoka SemiBold" pitchFamily="2" charset="-79"/>
                <a:cs typeface="Fredoka SemiBold" pitchFamily="2" charset="-79"/>
              </a:rPr>
              <a:t>Visual Components:</a:t>
            </a:r>
            <a:r>
              <a:rPr lang="en-US" sz="1800" dirty="0">
                <a:latin typeface="Fredoka SemiBold" pitchFamily="2" charset="-79"/>
                <a:cs typeface="Fredoka SemiBold" pitchFamily="2" charset="-79"/>
              </a:rPr>
              <a:t> </a:t>
            </a:r>
            <a:r>
              <a:rPr lang="en-US" sz="1800" dirty="0">
                <a:solidFill>
                  <a:srgbClr val="4F4F4F"/>
                </a:solidFill>
                <a:latin typeface="Fredoka SemiBold" pitchFamily="2" charset="-79"/>
                <a:cs typeface="Fredoka SemiBold" pitchFamily="2" charset="-79"/>
              </a:rPr>
              <a:t>Bar charts, line charts, geo maps, and KPI summary cards for quick insights</a:t>
            </a:r>
          </a:p>
        </p:txBody>
      </p:sp>
      <p:sp>
        <p:nvSpPr>
          <p:cNvPr id="4" name="Slide Number Placeholder 3">
            <a:extLst>
              <a:ext uri="{FF2B5EF4-FFF2-40B4-BE49-F238E27FC236}">
                <a16:creationId xmlns:a16="http://schemas.microsoft.com/office/drawing/2014/main" id="{3811F7AA-E35B-FD10-AFFA-5561E6F19A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spTree>
    <p:extLst>
      <p:ext uri="{BB962C8B-B14F-4D97-AF65-F5344CB8AC3E}">
        <p14:creationId xmlns:p14="http://schemas.microsoft.com/office/powerpoint/2010/main" val="1873942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73C64-7B9D-1B16-3F98-FB53D89CB54A}"/>
              </a:ext>
            </a:extLst>
          </p:cNvPr>
          <p:cNvSpPr>
            <a:spLocks noGrp="1"/>
          </p:cNvSpPr>
          <p:nvPr>
            <p:ph type="title"/>
          </p:nvPr>
        </p:nvSpPr>
        <p:spPr/>
        <p:txBody>
          <a:bodyPr/>
          <a:lstStyle/>
          <a:p>
            <a:pPr algn="ctr"/>
            <a:r>
              <a:rPr lang="en-US" sz="4400" b="1" dirty="0">
                <a:solidFill>
                  <a:srgbClr val="2AAF82"/>
                </a:solidFill>
                <a:latin typeface="Fredoka SemiBold" pitchFamily="2" charset="-79"/>
                <a:cs typeface="Fredoka SemiBold" pitchFamily="2" charset="-79"/>
              </a:rPr>
              <a:t>User Journey:</a:t>
            </a:r>
          </a:p>
        </p:txBody>
      </p:sp>
      <p:sp>
        <p:nvSpPr>
          <p:cNvPr id="3" name="Text Placeholder 2">
            <a:extLst>
              <a:ext uri="{FF2B5EF4-FFF2-40B4-BE49-F238E27FC236}">
                <a16:creationId xmlns:a16="http://schemas.microsoft.com/office/drawing/2014/main" id="{9DE97FE3-CE7C-3506-B397-022D34ED8CBA}"/>
              </a:ext>
            </a:extLst>
          </p:cNvPr>
          <p:cNvSpPr>
            <a:spLocks noGrp="1"/>
          </p:cNvSpPr>
          <p:nvPr>
            <p:ph type="body" idx="1"/>
          </p:nvPr>
        </p:nvSpPr>
        <p:spPr/>
        <p:txBody>
          <a:bodyPr>
            <a:normAutofit/>
          </a:bodyPr>
          <a:lstStyle/>
          <a:p>
            <a:pPr marL="114300" indent="0">
              <a:buNone/>
            </a:pPr>
            <a:r>
              <a:rPr lang="en-US" sz="1800" dirty="0">
                <a:latin typeface="Fredoka SemiBold" pitchFamily="2" charset="-79"/>
                <a:cs typeface="Fredoka SemiBold" pitchFamily="2" charset="-79"/>
              </a:rPr>
              <a:t>The dashboard was designed with a seamless, user-friendly flow to support efficient analysis:</a:t>
            </a:r>
          </a:p>
          <a:p>
            <a:pPr>
              <a:buFont typeface="+mj-lt"/>
              <a:buAutoNum type="arabicPeriod"/>
            </a:pPr>
            <a:r>
              <a:rPr lang="en-US" sz="1800" b="1" dirty="0">
                <a:latin typeface="Fredoka SemiBold" pitchFamily="2" charset="-79"/>
                <a:cs typeface="Fredoka SemiBold" pitchFamily="2" charset="-79"/>
              </a:rPr>
              <a:t>Entry Point:</a:t>
            </a:r>
            <a:r>
              <a:rPr lang="en-US" sz="1800" dirty="0">
                <a:latin typeface="Fredoka SemiBold" pitchFamily="2" charset="-79"/>
                <a:cs typeface="Fredoka SemiBold" pitchFamily="2" charset="-79"/>
              </a:rPr>
              <a:t> </a:t>
            </a:r>
            <a:r>
              <a:rPr lang="en-US" sz="1800" dirty="0">
                <a:solidFill>
                  <a:srgbClr val="4F4F4F"/>
                </a:solidFill>
                <a:latin typeface="Fredoka SemiBold" pitchFamily="2" charset="-79"/>
                <a:cs typeface="Fredoka SemiBold" pitchFamily="2" charset="-79"/>
              </a:rPr>
              <a:t>User lands on the dashboard homepage.</a:t>
            </a:r>
          </a:p>
          <a:p>
            <a:pPr>
              <a:buFont typeface="+mj-lt"/>
              <a:buAutoNum type="arabicPeriod"/>
            </a:pPr>
            <a:r>
              <a:rPr lang="en-US" sz="1800" b="1" dirty="0">
                <a:latin typeface="Fredoka SemiBold" pitchFamily="2" charset="-79"/>
                <a:cs typeface="Fredoka SemiBold" pitchFamily="2" charset="-79"/>
              </a:rPr>
              <a:t>Interaction:</a:t>
            </a:r>
            <a:r>
              <a:rPr lang="en-US" sz="1800" dirty="0">
                <a:latin typeface="Fredoka SemiBold" pitchFamily="2" charset="-79"/>
                <a:cs typeface="Fredoka SemiBold" pitchFamily="2" charset="-79"/>
              </a:rPr>
              <a:t> </a:t>
            </a:r>
            <a:r>
              <a:rPr lang="en-US" sz="1800" dirty="0">
                <a:solidFill>
                  <a:srgbClr val="4F4F4F"/>
                </a:solidFill>
                <a:latin typeface="Fredoka SemiBold" pitchFamily="2" charset="-79"/>
                <a:cs typeface="Fredoka SemiBold" pitchFamily="2" charset="-79"/>
              </a:rPr>
              <a:t>Applies filters (e.g., Region = </a:t>
            </a:r>
            <a:r>
              <a:rPr lang="en-US" sz="1800" i="1" dirty="0">
                <a:solidFill>
                  <a:srgbClr val="4F4F4F"/>
                </a:solidFill>
                <a:latin typeface="Fredoka SemiBold" pitchFamily="2" charset="-79"/>
                <a:cs typeface="Fredoka SemiBold" pitchFamily="2" charset="-79"/>
              </a:rPr>
              <a:t>West</a:t>
            </a:r>
            <a:r>
              <a:rPr lang="en-US" sz="1800" dirty="0">
                <a:solidFill>
                  <a:srgbClr val="4F4F4F"/>
                </a:solidFill>
                <a:latin typeface="Fredoka SemiBold" pitchFamily="2" charset="-79"/>
                <a:cs typeface="Fredoka SemiBold" pitchFamily="2" charset="-79"/>
              </a:rPr>
              <a:t>, Year = </a:t>
            </a:r>
            <a:r>
              <a:rPr lang="en-US" sz="1800" i="1" dirty="0">
                <a:solidFill>
                  <a:srgbClr val="4F4F4F"/>
                </a:solidFill>
                <a:latin typeface="Fredoka SemiBold" pitchFamily="2" charset="-79"/>
                <a:cs typeface="Fredoka SemiBold" pitchFamily="2" charset="-79"/>
              </a:rPr>
              <a:t>2016</a:t>
            </a:r>
            <a:r>
              <a:rPr lang="en-US" sz="1800" dirty="0">
                <a:solidFill>
                  <a:srgbClr val="4F4F4F"/>
                </a:solidFill>
                <a:latin typeface="Fredoka SemiBold" pitchFamily="2" charset="-79"/>
                <a:cs typeface="Fredoka SemiBold" pitchFamily="2" charset="-79"/>
              </a:rPr>
              <a:t>) to tailor insights.</a:t>
            </a:r>
          </a:p>
          <a:p>
            <a:pPr>
              <a:buFont typeface="+mj-lt"/>
              <a:buAutoNum type="arabicPeriod"/>
            </a:pPr>
            <a:r>
              <a:rPr lang="en-US" sz="1800" b="1" dirty="0">
                <a:latin typeface="Fredoka SemiBold" pitchFamily="2" charset="-79"/>
                <a:cs typeface="Fredoka SemiBold" pitchFamily="2" charset="-79"/>
              </a:rPr>
              <a:t>Exploration:</a:t>
            </a:r>
            <a:r>
              <a:rPr lang="en-US" sz="1800" dirty="0">
                <a:latin typeface="Fredoka SemiBold" pitchFamily="2" charset="-79"/>
                <a:cs typeface="Fredoka SemiBold" pitchFamily="2" charset="-79"/>
              </a:rPr>
              <a:t> </a:t>
            </a:r>
            <a:r>
              <a:rPr lang="en-US" sz="1800" dirty="0">
                <a:solidFill>
                  <a:srgbClr val="4F4F4F"/>
                </a:solidFill>
                <a:latin typeface="Fredoka SemiBold" pitchFamily="2" charset="-79"/>
                <a:cs typeface="Fredoka SemiBold" pitchFamily="2" charset="-79"/>
              </a:rPr>
              <a:t>Reviews charts segmented by Category and Sub-Category.</a:t>
            </a:r>
          </a:p>
          <a:p>
            <a:pPr>
              <a:buFont typeface="+mj-lt"/>
              <a:buAutoNum type="arabicPeriod"/>
            </a:pPr>
            <a:r>
              <a:rPr lang="en-US" sz="1800" b="1" dirty="0">
                <a:latin typeface="Fredoka SemiBold" pitchFamily="2" charset="-79"/>
                <a:cs typeface="Fredoka SemiBold" pitchFamily="2" charset="-79"/>
              </a:rPr>
              <a:t>Insight Discovery:</a:t>
            </a:r>
            <a:r>
              <a:rPr lang="en-US" sz="1800" dirty="0">
                <a:latin typeface="Fredoka SemiBold" pitchFamily="2" charset="-79"/>
                <a:cs typeface="Fredoka SemiBold" pitchFamily="2" charset="-79"/>
              </a:rPr>
              <a:t> </a:t>
            </a:r>
            <a:r>
              <a:rPr lang="en-US" sz="1800" dirty="0">
                <a:solidFill>
                  <a:srgbClr val="4F4F4F"/>
                </a:solidFill>
                <a:latin typeface="Fredoka SemiBold" pitchFamily="2" charset="-79"/>
                <a:cs typeface="Fredoka SemiBold" pitchFamily="2" charset="-79"/>
              </a:rPr>
              <a:t>Identifies patterns such as underperforming products, top segments, or logistic inefficiencies.</a:t>
            </a:r>
          </a:p>
          <a:p>
            <a:pPr>
              <a:buFont typeface="+mj-lt"/>
              <a:buAutoNum type="arabicPeriod"/>
            </a:pPr>
            <a:r>
              <a:rPr lang="en-US" sz="1800" b="1" dirty="0">
                <a:latin typeface="Fredoka SemiBold" pitchFamily="2" charset="-79"/>
                <a:cs typeface="Fredoka SemiBold" pitchFamily="2" charset="-79"/>
              </a:rPr>
              <a:t>Action:</a:t>
            </a:r>
            <a:r>
              <a:rPr lang="en-US" sz="1800" dirty="0">
                <a:latin typeface="Fredoka SemiBold" pitchFamily="2" charset="-79"/>
                <a:cs typeface="Fredoka SemiBold" pitchFamily="2" charset="-79"/>
              </a:rPr>
              <a:t> </a:t>
            </a:r>
            <a:r>
              <a:rPr lang="en-US" sz="1800" dirty="0">
                <a:solidFill>
                  <a:srgbClr val="4F4F4F"/>
                </a:solidFill>
                <a:latin typeface="Fredoka SemiBold" pitchFamily="2" charset="-79"/>
                <a:cs typeface="Fredoka SemiBold" pitchFamily="2" charset="-79"/>
              </a:rPr>
              <a:t>Makes informed decisions—e.g., optimizing shipping processes or targeting profitable regions.</a:t>
            </a:r>
          </a:p>
        </p:txBody>
      </p:sp>
      <p:sp>
        <p:nvSpPr>
          <p:cNvPr id="4" name="Slide Number Placeholder 3">
            <a:extLst>
              <a:ext uri="{FF2B5EF4-FFF2-40B4-BE49-F238E27FC236}">
                <a16:creationId xmlns:a16="http://schemas.microsoft.com/office/drawing/2014/main" id="{3811F7AA-E35B-FD10-AFFA-5561E6F19A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Tree>
    <p:extLst>
      <p:ext uri="{BB962C8B-B14F-4D97-AF65-F5344CB8AC3E}">
        <p14:creationId xmlns:p14="http://schemas.microsoft.com/office/powerpoint/2010/main" val="1889381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73C64-7B9D-1B16-3F98-FB53D89CB54A}"/>
              </a:ext>
            </a:extLst>
          </p:cNvPr>
          <p:cNvSpPr>
            <a:spLocks noGrp="1"/>
          </p:cNvSpPr>
          <p:nvPr>
            <p:ph type="title"/>
          </p:nvPr>
        </p:nvSpPr>
        <p:spPr/>
        <p:txBody>
          <a:bodyPr/>
          <a:lstStyle/>
          <a:p>
            <a:pPr algn="ctr"/>
            <a:r>
              <a:rPr lang="en-US" sz="4400" b="1" dirty="0">
                <a:solidFill>
                  <a:srgbClr val="2AAF82"/>
                </a:solidFill>
                <a:latin typeface="Fredoka SemiBold" pitchFamily="2" charset="-79"/>
                <a:cs typeface="Fredoka SemiBold" pitchFamily="2" charset="-79"/>
              </a:rPr>
              <a:t>Focus on Usability:</a:t>
            </a:r>
          </a:p>
        </p:txBody>
      </p:sp>
      <p:sp>
        <p:nvSpPr>
          <p:cNvPr id="3" name="Text Placeholder 2">
            <a:extLst>
              <a:ext uri="{FF2B5EF4-FFF2-40B4-BE49-F238E27FC236}">
                <a16:creationId xmlns:a16="http://schemas.microsoft.com/office/drawing/2014/main" id="{9DE97FE3-CE7C-3506-B397-022D34ED8CBA}"/>
              </a:ext>
            </a:extLst>
          </p:cNvPr>
          <p:cNvSpPr>
            <a:spLocks noGrp="1"/>
          </p:cNvSpPr>
          <p:nvPr>
            <p:ph type="body" idx="1"/>
          </p:nvPr>
        </p:nvSpPr>
        <p:spPr/>
        <p:txBody>
          <a:bodyPr>
            <a:normAutofit/>
          </a:bodyPr>
          <a:lstStyle/>
          <a:p>
            <a:pPr marL="114300" indent="0">
              <a:buNone/>
            </a:pPr>
            <a:r>
              <a:rPr lang="en-US" sz="1800" dirty="0">
                <a:latin typeface="Fredoka SemiBold" pitchFamily="2" charset="-79"/>
                <a:cs typeface="Fredoka SemiBold" pitchFamily="2" charset="-79"/>
              </a:rPr>
              <a:t>To ensure a positive and productive user experience, we prioritized:</a:t>
            </a:r>
          </a:p>
          <a:p>
            <a:pPr>
              <a:buFont typeface="Arial" panose="020B0604020202020204" pitchFamily="34" charset="0"/>
              <a:buChar char="•"/>
            </a:pPr>
            <a:r>
              <a:rPr lang="en-US" sz="1800" b="1" dirty="0">
                <a:latin typeface="Fredoka SemiBold" pitchFamily="2" charset="-79"/>
                <a:cs typeface="Fredoka SemiBold" pitchFamily="2" charset="-79"/>
              </a:rPr>
              <a:t>Clarity:</a:t>
            </a:r>
            <a:r>
              <a:rPr lang="en-US" sz="1800" dirty="0">
                <a:latin typeface="Fredoka SemiBold" pitchFamily="2" charset="-79"/>
                <a:cs typeface="Fredoka SemiBold" pitchFamily="2" charset="-79"/>
              </a:rPr>
              <a:t> </a:t>
            </a:r>
            <a:r>
              <a:rPr lang="en-US" sz="1800" dirty="0">
                <a:solidFill>
                  <a:srgbClr val="4F4F4F"/>
                </a:solidFill>
                <a:latin typeface="Fredoka SemiBold" pitchFamily="2" charset="-79"/>
                <a:cs typeface="Fredoka SemiBold" pitchFamily="2" charset="-79"/>
              </a:rPr>
              <a:t>Clean layout with minimal distractions</a:t>
            </a:r>
          </a:p>
          <a:p>
            <a:pPr>
              <a:buFont typeface="Arial" panose="020B0604020202020204" pitchFamily="34" charset="0"/>
              <a:buChar char="•"/>
            </a:pPr>
            <a:r>
              <a:rPr lang="en-US" sz="1800" b="1" dirty="0">
                <a:latin typeface="Fredoka SemiBold" pitchFamily="2" charset="-79"/>
                <a:cs typeface="Fredoka SemiBold" pitchFamily="2" charset="-79"/>
              </a:rPr>
              <a:t>Visual Communication:</a:t>
            </a:r>
            <a:r>
              <a:rPr lang="en-US" sz="1800" dirty="0">
                <a:latin typeface="Fredoka SemiBold" pitchFamily="2" charset="-79"/>
                <a:cs typeface="Fredoka SemiBold" pitchFamily="2" charset="-79"/>
              </a:rPr>
              <a:t> </a:t>
            </a:r>
            <a:r>
              <a:rPr lang="en-US" sz="1800" dirty="0">
                <a:solidFill>
                  <a:srgbClr val="4F4F4F"/>
                </a:solidFill>
                <a:latin typeface="Fredoka SemiBold" pitchFamily="2" charset="-79"/>
                <a:cs typeface="Fredoka SemiBold" pitchFamily="2" charset="-79"/>
              </a:rPr>
              <a:t>Color-coded elements for faster interpretation</a:t>
            </a:r>
          </a:p>
          <a:p>
            <a:pPr>
              <a:buFont typeface="Arial" panose="020B0604020202020204" pitchFamily="34" charset="0"/>
              <a:buChar char="•"/>
            </a:pPr>
            <a:r>
              <a:rPr lang="en-US" sz="1800" b="1" dirty="0">
                <a:latin typeface="Fredoka SemiBold" pitchFamily="2" charset="-79"/>
                <a:cs typeface="Fredoka SemiBold" pitchFamily="2" charset="-79"/>
              </a:rPr>
              <a:t>Interactivity:</a:t>
            </a:r>
            <a:r>
              <a:rPr lang="en-US" sz="1800" dirty="0">
                <a:latin typeface="Fredoka SemiBold" pitchFamily="2" charset="-79"/>
                <a:cs typeface="Fredoka SemiBold" pitchFamily="2" charset="-79"/>
              </a:rPr>
              <a:t> </a:t>
            </a:r>
            <a:r>
              <a:rPr lang="en-US" sz="1800" dirty="0">
                <a:solidFill>
                  <a:srgbClr val="4F4F4F"/>
                </a:solidFill>
                <a:latin typeface="Fredoka SemiBold" pitchFamily="2" charset="-79"/>
                <a:cs typeface="Fredoka SemiBold" pitchFamily="2" charset="-79"/>
              </a:rPr>
              <a:t>Simple and accessible dropdown filters</a:t>
            </a:r>
          </a:p>
          <a:p>
            <a:pPr>
              <a:buFont typeface="Arial" panose="020B0604020202020204" pitchFamily="34" charset="0"/>
              <a:buChar char="•"/>
            </a:pPr>
            <a:r>
              <a:rPr lang="en-US" sz="1800" b="1" dirty="0">
                <a:latin typeface="Fredoka SemiBold" pitchFamily="2" charset="-79"/>
                <a:cs typeface="Fredoka SemiBold" pitchFamily="2" charset="-79"/>
              </a:rPr>
              <a:t>Responsiveness:</a:t>
            </a:r>
            <a:r>
              <a:rPr lang="en-US" sz="1800" dirty="0">
                <a:latin typeface="Fredoka SemiBold" pitchFamily="2" charset="-79"/>
                <a:cs typeface="Fredoka SemiBold" pitchFamily="2" charset="-79"/>
              </a:rPr>
              <a:t> </a:t>
            </a:r>
            <a:r>
              <a:rPr lang="en-US" sz="1800" dirty="0">
                <a:solidFill>
                  <a:srgbClr val="4F4F4F"/>
                </a:solidFill>
                <a:latin typeface="Fredoka SemiBold" pitchFamily="2" charset="-79"/>
                <a:cs typeface="Fredoka SemiBold" pitchFamily="2" charset="-79"/>
              </a:rPr>
              <a:t>Design adapts across devices for consistent accessibility</a:t>
            </a:r>
          </a:p>
        </p:txBody>
      </p:sp>
      <p:sp>
        <p:nvSpPr>
          <p:cNvPr id="4" name="Slide Number Placeholder 3">
            <a:extLst>
              <a:ext uri="{FF2B5EF4-FFF2-40B4-BE49-F238E27FC236}">
                <a16:creationId xmlns:a16="http://schemas.microsoft.com/office/drawing/2014/main" id="{3811F7AA-E35B-FD10-AFFA-5561E6F19A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spTree>
    <p:extLst>
      <p:ext uri="{BB962C8B-B14F-4D97-AF65-F5344CB8AC3E}">
        <p14:creationId xmlns:p14="http://schemas.microsoft.com/office/powerpoint/2010/main" val="3756304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E0B1C0-81F3-E4A4-E507-B14CCA7C09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Nizar Cocon Kurdish" panose="020A0503020102020204" pitchFamily="18" charset="-78"/>
                <a:cs typeface="Nizar Cocon Kurdish" panose="020A0503020102020204" pitchFamily="18" charset="-78"/>
              </a:rPr>
              <a:t>7</a:t>
            </a:fld>
            <a:endParaRPr lang="en-US" dirty="0">
              <a:latin typeface="Nizar Cocon Kurdish" panose="020A0503020102020204" pitchFamily="18" charset="-78"/>
              <a:cs typeface="Nizar Cocon Kurdish" panose="020A0503020102020204" pitchFamily="18" charset="-78"/>
            </a:endParaRPr>
          </a:p>
        </p:txBody>
      </p:sp>
      <p:pic>
        <p:nvPicPr>
          <p:cNvPr id="9" name="Picture 8">
            <a:extLst>
              <a:ext uri="{FF2B5EF4-FFF2-40B4-BE49-F238E27FC236}">
                <a16:creationId xmlns:a16="http://schemas.microsoft.com/office/drawing/2014/main" id="{3A5F2245-7CEE-329B-0D40-02FF043C5F70}"/>
              </a:ext>
            </a:extLst>
          </p:cNvPr>
          <p:cNvPicPr>
            <a:picLocks noChangeAspect="1"/>
          </p:cNvPicPr>
          <p:nvPr/>
        </p:nvPicPr>
        <p:blipFill>
          <a:blip r:embed="rId2"/>
          <a:stretch>
            <a:fillRect/>
          </a:stretch>
        </p:blipFill>
        <p:spPr>
          <a:xfrm>
            <a:off x="4558146" y="1328692"/>
            <a:ext cx="7350826" cy="4900551"/>
          </a:xfrm>
          <a:prstGeom prst="rect">
            <a:avLst/>
          </a:prstGeom>
        </p:spPr>
      </p:pic>
      <p:sp>
        <p:nvSpPr>
          <p:cNvPr id="12" name="TextBox 11">
            <a:extLst>
              <a:ext uri="{FF2B5EF4-FFF2-40B4-BE49-F238E27FC236}">
                <a16:creationId xmlns:a16="http://schemas.microsoft.com/office/drawing/2014/main" id="{E61AE077-BDD3-F5EC-CDCD-D8C373CCD45E}"/>
              </a:ext>
            </a:extLst>
          </p:cNvPr>
          <p:cNvSpPr txBox="1"/>
          <p:nvPr/>
        </p:nvSpPr>
        <p:spPr>
          <a:xfrm>
            <a:off x="3418114" y="493699"/>
            <a:ext cx="5355772" cy="707886"/>
          </a:xfrm>
          <a:prstGeom prst="rect">
            <a:avLst/>
          </a:prstGeom>
          <a:noFill/>
        </p:spPr>
        <p:txBody>
          <a:bodyPr wrap="square" rtlCol="1">
            <a:spAutoFit/>
          </a:bodyPr>
          <a:lstStyle/>
          <a:p>
            <a:pPr algn="ctr"/>
            <a:r>
              <a:rPr lang="en-US" sz="4000" dirty="0">
                <a:solidFill>
                  <a:srgbClr val="2AAF82"/>
                </a:solidFill>
                <a:latin typeface="Nizar Cocon Kurdish" panose="020A0503020102020204" pitchFamily="18" charset="-78"/>
                <a:cs typeface="Nizar Cocon Kurdish" panose="020A0503020102020204" pitchFamily="18" charset="-78"/>
              </a:rPr>
              <a:t>Overview Dashboard</a:t>
            </a:r>
            <a:endParaRPr lang="ar-EG" sz="4000" dirty="0">
              <a:solidFill>
                <a:srgbClr val="2AAF82"/>
              </a:solidFill>
              <a:latin typeface="Nizar Cocon Kurdish" panose="020A0503020102020204" pitchFamily="18" charset="-78"/>
              <a:cs typeface="Nizar Cocon Kurdish" panose="020A0503020102020204" pitchFamily="18" charset="-78"/>
            </a:endParaRPr>
          </a:p>
        </p:txBody>
      </p:sp>
      <p:sp>
        <p:nvSpPr>
          <p:cNvPr id="13" name="TextBox 12">
            <a:extLst>
              <a:ext uri="{FF2B5EF4-FFF2-40B4-BE49-F238E27FC236}">
                <a16:creationId xmlns:a16="http://schemas.microsoft.com/office/drawing/2014/main" id="{E66EC2CE-4C67-F405-3671-1CCA2ED840E9}"/>
              </a:ext>
            </a:extLst>
          </p:cNvPr>
          <p:cNvSpPr txBox="1"/>
          <p:nvPr/>
        </p:nvSpPr>
        <p:spPr>
          <a:xfrm>
            <a:off x="283028" y="1328692"/>
            <a:ext cx="4358245" cy="3970318"/>
          </a:xfrm>
          <a:prstGeom prst="rect">
            <a:avLst/>
          </a:prstGeom>
          <a:noFill/>
        </p:spPr>
        <p:txBody>
          <a:bodyPr wrap="square" rtlCol="1">
            <a:spAutoFit/>
          </a:bodyPr>
          <a:lstStyle/>
          <a:p>
            <a:pPr>
              <a:buFont typeface="Arial" panose="020B0604020202020204" pitchFamily="34" charset="0"/>
              <a:buChar char="•"/>
            </a:pPr>
            <a:r>
              <a:rPr lang="en-US" sz="1800" b="1" dirty="0">
                <a:latin typeface="Fredoka SemiBold" pitchFamily="2" charset="-79"/>
                <a:cs typeface="Fredoka SemiBold" pitchFamily="2" charset="-79"/>
              </a:rPr>
              <a:t>Purpose</a:t>
            </a:r>
            <a:r>
              <a:rPr lang="en-US" sz="1800" dirty="0">
                <a:solidFill>
                  <a:srgbClr val="4F4F4F"/>
                </a:solidFill>
                <a:latin typeface="Fredoka SemiBold" pitchFamily="2" charset="-79"/>
                <a:cs typeface="Fredoka SemiBold" pitchFamily="2" charset="-79"/>
              </a:rPr>
              <a:t>: </a:t>
            </a:r>
            <a:r>
              <a:rPr lang="en-US" sz="1800" dirty="0">
                <a:solidFill>
                  <a:schemeClr val="tx1">
                    <a:lumMod val="65000"/>
                    <a:lumOff val="35000"/>
                  </a:schemeClr>
                </a:solidFill>
                <a:latin typeface="Fredoka SemiBold" pitchFamily="2" charset="-79"/>
                <a:cs typeface="Fredoka SemiBold" pitchFamily="2" charset="-79"/>
              </a:rPr>
              <a:t>This dashboard provides a high-level summary of a business’s overall performance, covering sales trends, product categories, regional activity, and operational metrics like shipping.</a:t>
            </a:r>
            <a:br>
              <a:rPr lang="en-US" sz="1800" dirty="0">
                <a:solidFill>
                  <a:schemeClr val="tx1">
                    <a:lumMod val="65000"/>
                    <a:lumOff val="35000"/>
                  </a:schemeClr>
                </a:solidFill>
                <a:latin typeface="Fredoka SemiBold" pitchFamily="2" charset="-79"/>
                <a:cs typeface="Fredoka SemiBold" pitchFamily="2" charset="-79"/>
              </a:rPr>
            </a:br>
            <a:endParaRPr lang="en-US" sz="1800" dirty="0">
              <a:solidFill>
                <a:schemeClr val="tx1">
                  <a:lumMod val="65000"/>
                  <a:lumOff val="35000"/>
                </a:schemeClr>
              </a:solidFill>
              <a:latin typeface="Fredoka SemiBold" pitchFamily="2" charset="-79"/>
              <a:cs typeface="Fredoka SemiBold" pitchFamily="2" charset="-79"/>
            </a:endParaRPr>
          </a:p>
          <a:p>
            <a:pPr>
              <a:buFont typeface="Arial" panose="020B0604020202020204" pitchFamily="34" charset="0"/>
              <a:buChar char="•"/>
            </a:pPr>
            <a:r>
              <a:rPr lang="en-US" sz="1800" b="1" dirty="0">
                <a:latin typeface="Fredoka SemiBold" pitchFamily="2" charset="-79"/>
                <a:cs typeface="Fredoka SemiBold" pitchFamily="2" charset="-79"/>
              </a:rPr>
              <a:t>Key Features</a:t>
            </a:r>
            <a:r>
              <a:rPr lang="en-US" sz="1800" dirty="0">
                <a:latin typeface="Fredoka SemiBold" pitchFamily="2" charset="-79"/>
                <a:cs typeface="Fredoka SemiBold" pitchFamily="2" charset="-79"/>
              </a:rPr>
              <a:t>: </a:t>
            </a:r>
            <a:r>
              <a:rPr lang="en-US" sz="1800" dirty="0">
                <a:solidFill>
                  <a:schemeClr val="tx1">
                    <a:lumMod val="65000"/>
                    <a:lumOff val="35000"/>
                  </a:schemeClr>
                </a:solidFill>
                <a:latin typeface="Fredoka SemiBold" pitchFamily="2" charset="-79"/>
                <a:cs typeface="Fredoka SemiBold" pitchFamily="2" charset="-79"/>
              </a:rPr>
              <a:t>It typically includes visuals for monthly sales patterns, breakdowns of product categories and subcategories, regional or geographic performance, shipping options, and a map highlighting location-based activity.</a:t>
            </a:r>
          </a:p>
        </p:txBody>
      </p:sp>
      <p:sp>
        <p:nvSpPr>
          <p:cNvPr id="3" name="TextBox 2">
            <a:extLst>
              <a:ext uri="{FF2B5EF4-FFF2-40B4-BE49-F238E27FC236}">
                <a16:creationId xmlns:a16="http://schemas.microsoft.com/office/drawing/2014/main" id="{4F554D6E-425A-61AB-12D2-EEDC2F7D4622}"/>
              </a:ext>
            </a:extLst>
          </p:cNvPr>
          <p:cNvSpPr txBox="1"/>
          <p:nvPr/>
        </p:nvSpPr>
        <p:spPr>
          <a:xfrm>
            <a:off x="843148" y="6356350"/>
            <a:ext cx="2738253" cy="369332"/>
          </a:xfrm>
          <a:prstGeom prst="rect">
            <a:avLst/>
          </a:prstGeom>
          <a:noFill/>
        </p:spPr>
        <p:txBody>
          <a:bodyPr wrap="square" rtlCol="1">
            <a:spAutoFit/>
          </a:bodyPr>
          <a:lstStyle/>
          <a:p>
            <a:pPr algn="ctr"/>
            <a:r>
              <a:rPr lang="en-US" sz="1800" dirty="0">
                <a:solidFill>
                  <a:schemeClr val="bg1"/>
                </a:solidFill>
                <a:latin typeface="Nizar Cocon Kurdish" panose="020A0503020102020204" pitchFamily="18" charset="-78"/>
                <a:cs typeface="Nizar Cocon Kurdish" panose="020A0503020102020204" pitchFamily="18" charset="-78"/>
              </a:rPr>
              <a:t>17/5/2025</a:t>
            </a:r>
            <a:endParaRPr lang="ar-EG" sz="1800" dirty="0">
              <a:solidFill>
                <a:schemeClr val="bg1"/>
              </a:solidFill>
              <a:latin typeface="Nizar Cocon Kurdish" panose="020A0503020102020204" pitchFamily="18" charset="-78"/>
              <a:cs typeface="Nizar Cocon Kurdish" panose="020A0503020102020204" pitchFamily="18" charset="-78"/>
            </a:endParaRPr>
          </a:p>
        </p:txBody>
      </p:sp>
    </p:spTree>
    <p:extLst>
      <p:ext uri="{BB962C8B-B14F-4D97-AF65-F5344CB8AC3E}">
        <p14:creationId xmlns:p14="http://schemas.microsoft.com/office/powerpoint/2010/main" val="2562687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E0B1C0-81F3-E4A4-E507-B14CCA7C09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Nizar Cocon Kurdish" panose="020A0503020102020204" pitchFamily="18" charset="-78"/>
                <a:cs typeface="Nizar Cocon Kurdish" panose="020A0503020102020204" pitchFamily="18" charset="-78"/>
              </a:rPr>
              <a:t>8</a:t>
            </a:fld>
            <a:endParaRPr lang="en-US" dirty="0">
              <a:latin typeface="Nizar Cocon Kurdish" panose="020A0503020102020204" pitchFamily="18" charset="-78"/>
              <a:cs typeface="Nizar Cocon Kurdish" panose="020A0503020102020204" pitchFamily="18" charset="-78"/>
            </a:endParaRPr>
          </a:p>
        </p:txBody>
      </p:sp>
      <p:sp>
        <p:nvSpPr>
          <p:cNvPr id="12" name="TextBox 11">
            <a:extLst>
              <a:ext uri="{FF2B5EF4-FFF2-40B4-BE49-F238E27FC236}">
                <a16:creationId xmlns:a16="http://schemas.microsoft.com/office/drawing/2014/main" id="{E61AE077-BDD3-F5EC-CDCD-D8C373CCD45E}"/>
              </a:ext>
            </a:extLst>
          </p:cNvPr>
          <p:cNvSpPr txBox="1"/>
          <p:nvPr/>
        </p:nvSpPr>
        <p:spPr>
          <a:xfrm>
            <a:off x="3126178" y="493698"/>
            <a:ext cx="5939642" cy="707886"/>
          </a:xfrm>
          <a:prstGeom prst="rect">
            <a:avLst/>
          </a:prstGeom>
          <a:noFill/>
        </p:spPr>
        <p:txBody>
          <a:bodyPr wrap="square" rtlCol="1">
            <a:spAutoFit/>
          </a:bodyPr>
          <a:lstStyle/>
          <a:p>
            <a:pPr algn="ctr"/>
            <a:r>
              <a:rPr lang="en-US" sz="4000" dirty="0">
                <a:solidFill>
                  <a:srgbClr val="2AAF82"/>
                </a:solidFill>
                <a:latin typeface="Nizar Cocon Kurdish" panose="020A0503020102020204" pitchFamily="18" charset="-78"/>
                <a:cs typeface="Nizar Cocon Kurdish" panose="020A0503020102020204" pitchFamily="18" charset="-78"/>
              </a:rPr>
              <a:t>Order Details Dashboard</a:t>
            </a:r>
            <a:endParaRPr lang="ar-EG" sz="4000" dirty="0">
              <a:solidFill>
                <a:srgbClr val="2AAF82"/>
              </a:solidFill>
              <a:latin typeface="Nizar Cocon Kurdish" panose="020A0503020102020204" pitchFamily="18" charset="-78"/>
              <a:cs typeface="Nizar Cocon Kurdish" panose="020A0503020102020204" pitchFamily="18" charset="-78"/>
            </a:endParaRPr>
          </a:p>
        </p:txBody>
      </p:sp>
      <p:pic>
        <p:nvPicPr>
          <p:cNvPr id="4" name="Picture 3">
            <a:extLst>
              <a:ext uri="{FF2B5EF4-FFF2-40B4-BE49-F238E27FC236}">
                <a16:creationId xmlns:a16="http://schemas.microsoft.com/office/drawing/2014/main" id="{D65A6263-28E2-5E71-AE82-9338F2C485E0}"/>
              </a:ext>
            </a:extLst>
          </p:cNvPr>
          <p:cNvPicPr>
            <a:picLocks noChangeAspect="1"/>
          </p:cNvPicPr>
          <p:nvPr/>
        </p:nvPicPr>
        <p:blipFill>
          <a:blip r:embed="rId2"/>
          <a:stretch>
            <a:fillRect/>
          </a:stretch>
        </p:blipFill>
        <p:spPr>
          <a:xfrm>
            <a:off x="4570733" y="1329167"/>
            <a:ext cx="7349399" cy="4899600"/>
          </a:xfrm>
          <a:prstGeom prst="rect">
            <a:avLst/>
          </a:prstGeom>
        </p:spPr>
      </p:pic>
      <p:sp>
        <p:nvSpPr>
          <p:cNvPr id="6" name="TextBox 5">
            <a:extLst>
              <a:ext uri="{FF2B5EF4-FFF2-40B4-BE49-F238E27FC236}">
                <a16:creationId xmlns:a16="http://schemas.microsoft.com/office/drawing/2014/main" id="{502608E7-2F5B-6637-78B8-6638CFB7CF6C}"/>
              </a:ext>
            </a:extLst>
          </p:cNvPr>
          <p:cNvSpPr txBox="1"/>
          <p:nvPr/>
        </p:nvSpPr>
        <p:spPr>
          <a:xfrm>
            <a:off x="271868" y="1329167"/>
            <a:ext cx="4298865" cy="3139321"/>
          </a:xfrm>
          <a:prstGeom prst="rect">
            <a:avLst/>
          </a:prstGeom>
          <a:noFill/>
        </p:spPr>
        <p:txBody>
          <a:bodyPr wrap="square">
            <a:spAutoFit/>
          </a:bodyPr>
          <a:lstStyle/>
          <a:p>
            <a:pPr>
              <a:buFont typeface="Arial" panose="020B0604020202020204" pitchFamily="34" charset="0"/>
              <a:buChar char="•"/>
            </a:pPr>
            <a:r>
              <a:rPr lang="en-US" sz="1800" b="1" dirty="0">
                <a:latin typeface="Fredoka SemiBold" pitchFamily="2" charset="-79"/>
                <a:cs typeface="Fredoka SemiBold" pitchFamily="2" charset="-79"/>
              </a:rPr>
              <a:t>Purpose</a:t>
            </a:r>
            <a:r>
              <a:rPr lang="en-US" sz="1800" dirty="0">
                <a:latin typeface="Fredoka SemiBold" pitchFamily="2" charset="-79"/>
                <a:cs typeface="Fredoka SemiBold" pitchFamily="2" charset="-79"/>
              </a:rPr>
              <a:t>: </a:t>
            </a:r>
            <a:r>
              <a:rPr lang="en-US" sz="1800" dirty="0">
                <a:solidFill>
                  <a:srgbClr val="4F4F4F"/>
                </a:solidFill>
                <a:latin typeface="Fredoka SemiBold" pitchFamily="2" charset="-79"/>
                <a:cs typeface="Fredoka SemiBold" pitchFamily="2" charset="-79"/>
              </a:rPr>
              <a:t>This dashboard tracks individual transactions, offering a detailed look at each sale to understand customer behavior and operational efficiency.</a:t>
            </a:r>
            <a:br>
              <a:rPr lang="en-US" sz="1800" dirty="0">
                <a:solidFill>
                  <a:srgbClr val="4F4F4F"/>
                </a:solidFill>
                <a:latin typeface="Fredoka SemiBold" pitchFamily="2" charset="-79"/>
                <a:cs typeface="Fredoka SemiBold" pitchFamily="2" charset="-79"/>
              </a:rPr>
            </a:br>
            <a:endParaRPr lang="en-US" sz="1800" dirty="0">
              <a:solidFill>
                <a:srgbClr val="4F4F4F"/>
              </a:solidFill>
              <a:latin typeface="Fredoka SemiBold" pitchFamily="2" charset="-79"/>
              <a:cs typeface="Fredoka SemiBold" pitchFamily="2" charset="-79"/>
            </a:endParaRPr>
          </a:p>
          <a:p>
            <a:pPr>
              <a:buFont typeface="Arial" panose="020B0604020202020204" pitchFamily="34" charset="0"/>
              <a:buChar char="•"/>
            </a:pPr>
            <a:r>
              <a:rPr lang="en-US" sz="1800" b="1" dirty="0">
                <a:latin typeface="Fredoka SemiBold" pitchFamily="2" charset="-79"/>
                <a:cs typeface="Fredoka SemiBold" pitchFamily="2" charset="-79"/>
              </a:rPr>
              <a:t>Key Features</a:t>
            </a:r>
            <a:r>
              <a:rPr lang="en-US" sz="1800" dirty="0">
                <a:solidFill>
                  <a:srgbClr val="4F4F4F"/>
                </a:solidFill>
                <a:latin typeface="Fredoka SemiBold" pitchFamily="2" charset="-79"/>
                <a:cs typeface="Fredoka SemiBold" pitchFamily="2" charset="-79"/>
              </a:rPr>
              <a:t>: It typically lists orders with columns for identifiers, customer names, store locations, product types, shipping timelines, customer segments, and profitability indicators.</a:t>
            </a:r>
          </a:p>
        </p:txBody>
      </p:sp>
      <p:sp>
        <p:nvSpPr>
          <p:cNvPr id="3" name="TextBox 2">
            <a:extLst>
              <a:ext uri="{FF2B5EF4-FFF2-40B4-BE49-F238E27FC236}">
                <a16:creationId xmlns:a16="http://schemas.microsoft.com/office/drawing/2014/main" id="{70002EE6-8CC1-B373-04C3-1A35E8A24F60}"/>
              </a:ext>
            </a:extLst>
          </p:cNvPr>
          <p:cNvSpPr txBox="1"/>
          <p:nvPr/>
        </p:nvSpPr>
        <p:spPr>
          <a:xfrm>
            <a:off x="843148" y="6356350"/>
            <a:ext cx="2738253" cy="369332"/>
          </a:xfrm>
          <a:prstGeom prst="rect">
            <a:avLst/>
          </a:prstGeom>
          <a:noFill/>
        </p:spPr>
        <p:txBody>
          <a:bodyPr wrap="square" rtlCol="1">
            <a:spAutoFit/>
          </a:bodyPr>
          <a:lstStyle/>
          <a:p>
            <a:pPr algn="ctr"/>
            <a:r>
              <a:rPr lang="en-US" sz="1800" dirty="0">
                <a:solidFill>
                  <a:schemeClr val="bg1"/>
                </a:solidFill>
                <a:latin typeface="Nizar Cocon Kurdish" panose="020A0503020102020204" pitchFamily="18" charset="-78"/>
                <a:cs typeface="Nizar Cocon Kurdish" panose="020A0503020102020204" pitchFamily="18" charset="-78"/>
              </a:rPr>
              <a:t>17/5/2025</a:t>
            </a:r>
            <a:endParaRPr lang="ar-EG" sz="1800" dirty="0">
              <a:solidFill>
                <a:schemeClr val="bg1"/>
              </a:solidFill>
              <a:latin typeface="Nizar Cocon Kurdish" panose="020A0503020102020204" pitchFamily="18" charset="-78"/>
              <a:cs typeface="Nizar Cocon Kurdish" panose="020A0503020102020204" pitchFamily="18" charset="-78"/>
            </a:endParaRPr>
          </a:p>
        </p:txBody>
      </p:sp>
    </p:spTree>
    <p:extLst>
      <p:ext uri="{BB962C8B-B14F-4D97-AF65-F5344CB8AC3E}">
        <p14:creationId xmlns:p14="http://schemas.microsoft.com/office/powerpoint/2010/main" val="6892260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E0B1C0-81F3-E4A4-E507-B14CCA7C09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Nizar Cocon Kurdish" panose="020A0503020102020204" pitchFamily="18" charset="-78"/>
                <a:cs typeface="Nizar Cocon Kurdish" panose="020A0503020102020204" pitchFamily="18" charset="-78"/>
              </a:rPr>
              <a:t>9</a:t>
            </a:fld>
            <a:endParaRPr lang="en-US" dirty="0">
              <a:latin typeface="Nizar Cocon Kurdish" panose="020A0503020102020204" pitchFamily="18" charset="-78"/>
              <a:cs typeface="Nizar Cocon Kurdish" panose="020A0503020102020204" pitchFamily="18" charset="-78"/>
            </a:endParaRPr>
          </a:p>
        </p:txBody>
      </p:sp>
      <p:sp>
        <p:nvSpPr>
          <p:cNvPr id="12" name="TextBox 11">
            <a:extLst>
              <a:ext uri="{FF2B5EF4-FFF2-40B4-BE49-F238E27FC236}">
                <a16:creationId xmlns:a16="http://schemas.microsoft.com/office/drawing/2014/main" id="{E61AE077-BDD3-F5EC-CDCD-D8C373CCD45E}"/>
              </a:ext>
            </a:extLst>
          </p:cNvPr>
          <p:cNvSpPr txBox="1"/>
          <p:nvPr/>
        </p:nvSpPr>
        <p:spPr>
          <a:xfrm>
            <a:off x="3126178" y="493698"/>
            <a:ext cx="5939642" cy="707886"/>
          </a:xfrm>
          <a:prstGeom prst="rect">
            <a:avLst/>
          </a:prstGeom>
          <a:noFill/>
        </p:spPr>
        <p:txBody>
          <a:bodyPr wrap="square" rtlCol="1">
            <a:spAutoFit/>
          </a:bodyPr>
          <a:lstStyle/>
          <a:p>
            <a:pPr algn="ctr"/>
            <a:r>
              <a:rPr lang="en-US" sz="4000" dirty="0">
                <a:solidFill>
                  <a:srgbClr val="2AAF82"/>
                </a:solidFill>
                <a:latin typeface="Nizar Cocon Kurdish" panose="020A0503020102020204" pitchFamily="18" charset="-78"/>
                <a:cs typeface="Nizar Cocon Kurdish" panose="020A0503020102020204" pitchFamily="18" charset="-78"/>
              </a:rPr>
              <a:t>Product Dashboard</a:t>
            </a:r>
            <a:endParaRPr lang="ar-EG" sz="4000" dirty="0">
              <a:solidFill>
                <a:srgbClr val="2AAF82"/>
              </a:solidFill>
              <a:latin typeface="Nizar Cocon Kurdish" panose="020A0503020102020204" pitchFamily="18" charset="-78"/>
              <a:cs typeface="Nizar Cocon Kurdish" panose="020A0503020102020204" pitchFamily="18" charset="-78"/>
            </a:endParaRPr>
          </a:p>
        </p:txBody>
      </p:sp>
      <p:pic>
        <p:nvPicPr>
          <p:cNvPr id="5" name="Picture 4">
            <a:extLst>
              <a:ext uri="{FF2B5EF4-FFF2-40B4-BE49-F238E27FC236}">
                <a16:creationId xmlns:a16="http://schemas.microsoft.com/office/drawing/2014/main" id="{54AE3AD6-6EFF-F24A-8C0E-2B95AD4E1A12}"/>
              </a:ext>
            </a:extLst>
          </p:cNvPr>
          <p:cNvPicPr>
            <a:picLocks noChangeAspect="1"/>
          </p:cNvPicPr>
          <p:nvPr/>
        </p:nvPicPr>
        <p:blipFill>
          <a:blip r:embed="rId2"/>
          <a:stretch>
            <a:fillRect/>
          </a:stretch>
        </p:blipFill>
        <p:spPr>
          <a:xfrm>
            <a:off x="4582607" y="1329167"/>
            <a:ext cx="7349401" cy="4899600"/>
          </a:xfrm>
          <a:prstGeom prst="rect">
            <a:avLst/>
          </a:prstGeom>
        </p:spPr>
      </p:pic>
      <p:sp>
        <p:nvSpPr>
          <p:cNvPr id="7" name="TextBox 6">
            <a:extLst>
              <a:ext uri="{FF2B5EF4-FFF2-40B4-BE49-F238E27FC236}">
                <a16:creationId xmlns:a16="http://schemas.microsoft.com/office/drawing/2014/main" id="{EB8E858D-58F7-A711-EA0D-FEDD075A269F}"/>
              </a:ext>
            </a:extLst>
          </p:cNvPr>
          <p:cNvSpPr txBox="1"/>
          <p:nvPr/>
        </p:nvSpPr>
        <p:spPr>
          <a:xfrm>
            <a:off x="259992" y="1329167"/>
            <a:ext cx="4322615" cy="3693319"/>
          </a:xfrm>
          <a:prstGeom prst="rect">
            <a:avLst/>
          </a:prstGeom>
          <a:noFill/>
        </p:spPr>
        <p:txBody>
          <a:bodyPr wrap="square">
            <a:spAutoFit/>
          </a:bodyPr>
          <a:lstStyle/>
          <a:p>
            <a:pPr>
              <a:buFont typeface="Arial" panose="020B0604020202020204" pitchFamily="34" charset="0"/>
              <a:buChar char="•"/>
            </a:pPr>
            <a:r>
              <a:rPr lang="en-US" sz="1800" b="1" dirty="0">
                <a:latin typeface="Fredoka SemiBold" pitchFamily="2" charset="-79"/>
                <a:cs typeface="Fredoka SemiBold" pitchFamily="2" charset="-79"/>
              </a:rPr>
              <a:t>Purpose</a:t>
            </a:r>
            <a:r>
              <a:rPr lang="en-US" sz="1800" dirty="0">
                <a:solidFill>
                  <a:schemeClr val="tx1">
                    <a:lumMod val="50000"/>
                    <a:lumOff val="50000"/>
                  </a:schemeClr>
                </a:solidFill>
                <a:latin typeface="Fredoka SemiBold" pitchFamily="2" charset="-79"/>
                <a:cs typeface="Fredoka SemiBold" pitchFamily="2" charset="-79"/>
              </a:rPr>
              <a:t>: </a:t>
            </a:r>
            <a:r>
              <a:rPr lang="en-US" sz="1800" dirty="0">
                <a:solidFill>
                  <a:srgbClr val="4F4F4F"/>
                </a:solidFill>
                <a:latin typeface="Fredoka SemiBold" pitchFamily="2" charset="-79"/>
                <a:cs typeface="Fredoka SemiBold" pitchFamily="2" charset="-79"/>
              </a:rPr>
              <a:t>A product-focused dashboard analyzes sales performance across categories and subcategories, often comparing current trends to past performance.</a:t>
            </a:r>
          </a:p>
          <a:p>
            <a:pPr>
              <a:buFont typeface="Arial" panose="020B0604020202020204" pitchFamily="34" charset="0"/>
              <a:buChar char="•"/>
            </a:pPr>
            <a:endParaRPr lang="en-US" sz="1800" dirty="0">
              <a:solidFill>
                <a:srgbClr val="4F4F4F"/>
              </a:solidFill>
              <a:latin typeface="Fredoka SemiBold" pitchFamily="2" charset="-79"/>
              <a:cs typeface="Fredoka SemiBold" pitchFamily="2" charset="-79"/>
            </a:endParaRPr>
          </a:p>
          <a:p>
            <a:pPr>
              <a:buFont typeface="Arial" panose="020B0604020202020204" pitchFamily="34" charset="0"/>
              <a:buChar char="•"/>
            </a:pPr>
            <a:r>
              <a:rPr lang="en-US" sz="1800" b="1" dirty="0">
                <a:latin typeface="Fredoka SemiBold" pitchFamily="2" charset="-79"/>
                <a:cs typeface="Fredoka SemiBold" pitchFamily="2" charset="-79"/>
              </a:rPr>
              <a:t>Key Features</a:t>
            </a:r>
            <a:r>
              <a:rPr lang="en-US" sz="1800" dirty="0">
                <a:solidFill>
                  <a:srgbClr val="4F4F4F"/>
                </a:solidFill>
                <a:latin typeface="Fredoka SemiBold" pitchFamily="2" charset="-79"/>
                <a:cs typeface="Fredoka SemiBold" pitchFamily="2" charset="-79"/>
              </a:rPr>
              <a:t>: It often uses flow diagrams to break down sales into broad categories (e.g., technology, furniture, office supplies) and narrower subcategories (e.g., phones, chairs, storage), while also showing growth trends.</a:t>
            </a:r>
          </a:p>
        </p:txBody>
      </p:sp>
      <p:sp>
        <p:nvSpPr>
          <p:cNvPr id="3" name="TextBox 2">
            <a:extLst>
              <a:ext uri="{FF2B5EF4-FFF2-40B4-BE49-F238E27FC236}">
                <a16:creationId xmlns:a16="http://schemas.microsoft.com/office/drawing/2014/main" id="{2DF95894-FFAA-D453-3BA4-98103C0AC0B2}"/>
              </a:ext>
            </a:extLst>
          </p:cNvPr>
          <p:cNvSpPr txBox="1"/>
          <p:nvPr/>
        </p:nvSpPr>
        <p:spPr>
          <a:xfrm>
            <a:off x="843148" y="6356350"/>
            <a:ext cx="2738253" cy="369332"/>
          </a:xfrm>
          <a:prstGeom prst="rect">
            <a:avLst/>
          </a:prstGeom>
          <a:noFill/>
        </p:spPr>
        <p:txBody>
          <a:bodyPr wrap="square" rtlCol="1">
            <a:spAutoFit/>
          </a:bodyPr>
          <a:lstStyle/>
          <a:p>
            <a:pPr algn="ctr"/>
            <a:r>
              <a:rPr lang="en-US" sz="1800" dirty="0">
                <a:solidFill>
                  <a:schemeClr val="bg1"/>
                </a:solidFill>
                <a:latin typeface="Nizar Cocon Kurdish" panose="020A0503020102020204" pitchFamily="18" charset="-78"/>
                <a:cs typeface="Nizar Cocon Kurdish" panose="020A0503020102020204" pitchFamily="18" charset="-78"/>
              </a:rPr>
              <a:t>17/5/2025</a:t>
            </a:r>
            <a:endParaRPr lang="ar-EG" sz="1800" dirty="0">
              <a:solidFill>
                <a:schemeClr val="bg1"/>
              </a:solidFill>
              <a:latin typeface="Nizar Cocon Kurdish" panose="020A0503020102020204" pitchFamily="18" charset="-78"/>
              <a:cs typeface="Nizar Cocon Kurdish" panose="020A0503020102020204" pitchFamily="18" charset="-78"/>
            </a:endParaRPr>
          </a:p>
        </p:txBody>
      </p:sp>
    </p:spTree>
    <p:extLst>
      <p:ext uri="{BB962C8B-B14F-4D97-AF65-F5344CB8AC3E}">
        <p14:creationId xmlns:p14="http://schemas.microsoft.com/office/powerpoint/2010/main" val="18701330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E0B1C0-81F3-E4A4-E507-B14CCA7C09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Nizar Cocon Kurdish" panose="020A0503020102020204" pitchFamily="18" charset="-78"/>
                <a:cs typeface="Nizar Cocon Kurdish" panose="020A0503020102020204" pitchFamily="18" charset="-78"/>
              </a:rPr>
              <a:t>10</a:t>
            </a:fld>
            <a:endParaRPr lang="en-US" dirty="0">
              <a:latin typeface="Nizar Cocon Kurdish" panose="020A0503020102020204" pitchFamily="18" charset="-78"/>
              <a:cs typeface="Nizar Cocon Kurdish" panose="020A0503020102020204" pitchFamily="18" charset="-78"/>
            </a:endParaRPr>
          </a:p>
        </p:txBody>
      </p:sp>
      <p:sp>
        <p:nvSpPr>
          <p:cNvPr id="12" name="TextBox 11">
            <a:extLst>
              <a:ext uri="{FF2B5EF4-FFF2-40B4-BE49-F238E27FC236}">
                <a16:creationId xmlns:a16="http://schemas.microsoft.com/office/drawing/2014/main" id="{E61AE077-BDD3-F5EC-CDCD-D8C373CCD45E}"/>
              </a:ext>
            </a:extLst>
          </p:cNvPr>
          <p:cNvSpPr txBox="1"/>
          <p:nvPr/>
        </p:nvSpPr>
        <p:spPr>
          <a:xfrm>
            <a:off x="3126178" y="493698"/>
            <a:ext cx="5939642" cy="707886"/>
          </a:xfrm>
          <a:prstGeom prst="rect">
            <a:avLst/>
          </a:prstGeom>
          <a:noFill/>
        </p:spPr>
        <p:txBody>
          <a:bodyPr wrap="square" rtlCol="1">
            <a:spAutoFit/>
          </a:bodyPr>
          <a:lstStyle/>
          <a:p>
            <a:pPr algn="ctr"/>
            <a:r>
              <a:rPr lang="en-US" sz="4000" dirty="0">
                <a:solidFill>
                  <a:srgbClr val="2AAF82"/>
                </a:solidFill>
                <a:latin typeface="Nizar Cocon Kurdish" panose="020A0503020102020204" pitchFamily="18" charset="-78"/>
                <a:cs typeface="Nizar Cocon Kurdish" panose="020A0503020102020204" pitchFamily="18" charset="-78"/>
              </a:rPr>
              <a:t>Customer Dashboard</a:t>
            </a:r>
            <a:endParaRPr lang="ar-EG" sz="4000" dirty="0">
              <a:solidFill>
                <a:srgbClr val="2AAF82"/>
              </a:solidFill>
              <a:latin typeface="Nizar Cocon Kurdish" panose="020A0503020102020204" pitchFamily="18" charset="-78"/>
              <a:cs typeface="Nizar Cocon Kurdish" panose="020A0503020102020204" pitchFamily="18" charset="-78"/>
            </a:endParaRPr>
          </a:p>
        </p:txBody>
      </p:sp>
      <p:pic>
        <p:nvPicPr>
          <p:cNvPr id="4" name="Picture 3">
            <a:extLst>
              <a:ext uri="{FF2B5EF4-FFF2-40B4-BE49-F238E27FC236}">
                <a16:creationId xmlns:a16="http://schemas.microsoft.com/office/drawing/2014/main" id="{7FCC7BD5-1DE5-E7EF-2C2E-152342EF3ED5}"/>
              </a:ext>
            </a:extLst>
          </p:cNvPr>
          <p:cNvPicPr>
            <a:picLocks noChangeAspect="1"/>
          </p:cNvPicPr>
          <p:nvPr/>
        </p:nvPicPr>
        <p:blipFill>
          <a:blip r:embed="rId2"/>
          <a:stretch>
            <a:fillRect/>
          </a:stretch>
        </p:blipFill>
        <p:spPr>
          <a:xfrm>
            <a:off x="4594483" y="1329167"/>
            <a:ext cx="7349400" cy="4899600"/>
          </a:xfrm>
          <a:prstGeom prst="rect">
            <a:avLst/>
          </a:prstGeom>
        </p:spPr>
      </p:pic>
      <p:sp>
        <p:nvSpPr>
          <p:cNvPr id="7" name="TextBox 6">
            <a:extLst>
              <a:ext uri="{FF2B5EF4-FFF2-40B4-BE49-F238E27FC236}">
                <a16:creationId xmlns:a16="http://schemas.microsoft.com/office/drawing/2014/main" id="{018B9A65-BA04-C86D-949F-B8B3E7A4B334}"/>
              </a:ext>
            </a:extLst>
          </p:cNvPr>
          <p:cNvSpPr txBox="1"/>
          <p:nvPr/>
        </p:nvSpPr>
        <p:spPr>
          <a:xfrm>
            <a:off x="248117" y="1329167"/>
            <a:ext cx="4346366" cy="3416320"/>
          </a:xfrm>
          <a:prstGeom prst="rect">
            <a:avLst/>
          </a:prstGeom>
          <a:noFill/>
        </p:spPr>
        <p:txBody>
          <a:bodyPr wrap="square">
            <a:spAutoFit/>
          </a:bodyPr>
          <a:lstStyle/>
          <a:p>
            <a:pPr>
              <a:buFont typeface="Arial" panose="020B0604020202020204" pitchFamily="34" charset="0"/>
              <a:buChar char="•"/>
            </a:pPr>
            <a:r>
              <a:rPr lang="en-US" sz="1800" b="1" dirty="0">
                <a:latin typeface="Fredoka SemiBold" pitchFamily="2" charset="-79"/>
                <a:cs typeface="Fredoka SemiBold" pitchFamily="2" charset="-79"/>
              </a:rPr>
              <a:t>Purpose</a:t>
            </a:r>
            <a:r>
              <a:rPr lang="en-US" sz="1800" dirty="0">
                <a:latin typeface="Fredoka SemiBold" pitchFamily="2" charset="-79"/>
                <a:cs typeface="Fredoka SemiBold" pitchFamily="2" charset="-79"/>
              </a:rPr>
              <a:t>: </a:t>
            </a:r>
            <a:r>
              <a:rPr lang="en-US" sz="1800" dirty="0">
                <a:solidFill>
                  <a:schemeClr val="tx1">
                    <a:lumMod val="65000"/>
                    <a:lumOff val="35000"/>
                  </a:schemeClr>
                </a:solidFill>
                <a:latin typeface="Fredoka SemiBold" pitchFamily="2" charset="-79"/>
                <a:cs typeface="Fredoka SemiBold" pitchFamily="2" charset="-79"/>
              </a:rPr>
              <a:t>This dashboard focuses on the customer base, analyzing purchasing behavior and segmenting buyers to uncover key trends.</a:t>
            </a:r>
          </a:p>
          <a:p>
            <a:endParaRPr lang="en-US" sz="1800" dirty="0">
              <a:latin typeface="Fredoka SemiBold" pitchFamily="2" charset="-79"/>
              <a:cs typeface="Fredoka SemiBold" pitchFamily="2" charset="-79"/>
            </a:endParaRPr>
          </a:p>
          <a:p>
            <a:pPr>
              <a:buFont typeface="Arial" panose="020B0604020202020204" pitchFamily="34" charset="0"/>
              <a:buChar char="•"/>
            </a:pPr>
            <a:r>
              <a:rPr lang="en-US" sz="1800" b="1" dirty="0">
                <a:latin typeface="Fredoka SemiBold" pitchFamily="2" charset="-79"/>
                <a:cs typeface="Fredoka SemiBold" pitchFamily="2" charset="-79"/>
              </a:rPr>
              <a:t>Key Features</a:t>
            </a:r>
            <a:r>
              <a:rPr lang="en-US" sz="1800" dirty="0">
                <a:latin typeface="Fredoka SemiBold" pitchFamily="2" charset="-79"/>
                <a:cs typeface="Fredoka SemiBold" pitchFamily="2" charset="-79"/>
              </a:rPr>
              <a:t>: </a:t>
            </a:r>
            <a:r>
              <a:rPr lang="en-US" sz="1800" dirty="0">
                <a:solidFill>
                  <a:schemeClr val="tx1">
                    <a:lumMod val="65000"/>
                    <a:lumOff val="35000"/>
                  </a:schemeClr>
                </a:solidFill>
                <a:latin typeface="Fredoka SemiBold" pitchFamily="2" charset="-79"/>
                <a:cs typeface="Fredoka SemiBold" pitchFamily="2" charset="-79"/>
              </a:rPr>
              <a:t>It typically includes a list of customers with their segments (e.g., individual consumers, corporate clients, home office buyers), a ranking of top spenders, and visual breakdowns of segments and product categories purchased.</a:t>
            </a:r>
          </a:p>
        </p:txBody>
      </p:sp>
      <p:sp>
        <p:nvSpPr>
          <p:cNvPr id="3" name="TextBox 2">
            <a:extLst>
              <a:ext uri="{FF2B5EF4-FFF2-40B4-BE49-F238E27FC236}">
                <a16:creationId xmlns:a16="http://schemas.microsoft.com/office/drawing/2014/main" id="{C29620AD-3F5E-B689-15D4-D366D465D04E}"/>
              </a:ext>
            </a:extLst>
          </p:cNvPr>
          <p:cNvSpPr txBox="1"/>
          <p:nvPr/>
        </p:nvSpPr>
        <p:spPr>
          <a:xfrm>
            <a:off x="843148" y="6356350"/>
            <a:ext cx="2738253" cy="369332"/>
          </a:xfrm>
          <a:prstGeom prst="rect">
            <a:avLst/>
          </a:prstGeom>
          <a:noFill/>
        </p:spPr>
        <p:txBody>
          <a:bodyPr wrap="square" rtlCol="1">
            <a:spAutoFit/>
          </a:bodyPr>
          <a:lstStyle/>
          <a:p>
            <a:pPr algn="ctr"/>
            <a:r>
              <a:rPr lang="en-US" sz="1800" dirty="0">
                <a:solidFill>
                  <a:schemeClr val="bg1"/>
                </a:solidFill>
                <a:latin typeface="Nizar Cocon Kurdish" panose="020A0503020102020204" pitchFamily="18" charset="-78"/>
                <a:cs typeface="Nizar Cocon Kurdish" panose="020A0503020102020204" pitchFamily="18" charset="-78"/>
              </a:rPr>
              <a:t>17/5/2025</a:t>
            </a:r>
            <a:endParaRPr lang="ar-EG" sz="1800" dirty="0">
              <a:solidFill>
                <a:schemeClr val="bg1"/>
              </a:solidFill>
              <a:latin typeface="Nizar Cocon Kurdish" panose="020A0503020102020204" pitchFamily="18" charset="-78"/>
              <a:cs typeface="Nizar Cocon Kurdish" panose="020A0503020102020204" pitchFamily="18" charset="-78"/>
            </a:endParaRPr>
          </a:p>
        </p:txBody>
      </p:sp>
    </p:spTree>
    <p:extLst>
      <p:ext uri="{BB962C8B-B14F-4D97-AF65-F5344CB8AC3E}">
        <p14:creationId xmlns:p14="http://schemas.microsoft.com/office/powerpoint/2010/main" val="3001557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E039B-55E3-CDDC-90CA-17619D45E975}"/>
              </a:ext>
            </a:extLst>
          </p:cNvPr>
          <p:cNvSpPr>
            <a:spLocks noGrp="1"/>
          </p:cNvSpPr>
          <p:nvPr>
            <p:ph type="title"/>
          </p:nvPr>
        </p:nvSpPr>
        <p:spPr/>
        <p:txBody>
          <a:bodyPr>
            <a:normAutofit/>
          </a:bodyPr>
          <a:lstStyle/>
          <a:p>
            <a:pPr algn="ctr"/>
            <a:r>
              <a:rPr lang="en-US" sz="4000" b="1" dirty="0">
                <a:solidFill>
                  <a:srgbClr val="2AAF82"/>
                </a:solidFill>
                <a:latin typeface="Fredoka SemiBold" pitchFamily="2" charset="-79"/>
                <a:cs typeface="Fredoka SemiBold" pitchFamily="2" charset="-79"/>
              </a:rPr>
              <a:t>End Users</a:t>
            </a:r>
            <a:endParaRPr lang="en-US" sz="4000" dirty="0">
              <a:solidFill>
                <a:srgbClr val="2AAF82"/>
              </a:solidFill>
              <a:latin typeface="Fredoka SemiBold" pitchFamily="2" charset="-79"/>
              <a:cs typeface="Fredoka SemiBold" pitchFamily="2" charset="-79"/>
            </a:endParaRPr>
          </a:p>
        </p:txBody>
      </p:sp>
      <p:sp>
        <p:nvSpPr>
          <p:cNvPr id="3" name="Text Placeholder 2">
            <a:extLst>
              <a:ext uri="{FF2B5EF4-FFF2-40B4-BE49-F238E27FC236}">
                <a16:creationId xmlns:a16="http://schemas.microsoft.com/office/drawing/2014/main" id="{4B5372B1-7916-EC33-659A-7FE146441B13}"/>
              </a:ext>
            </a:extLst>
          </p:cNvPr>
          <p:cNvSpPr>
            <a:spLocks noGrp="1"/>
          </p:cNvSpPr>
          <p:nvPr>
            <p:ph type="body" idx="1"/>
          </p:nvPr>
        </p:nvSpPr>
        <p:spPr>
          <a:xfrm>
            <a:off x="838200" y="1690688"/>
            <a:ext cx="5720444" cy="4148984"/>
          </a:xfrm>
        </p:spPr>
        <p:txBody>
          <a:bodyPr>
            <a:normAutofit fontScale="92500" lnSpcReduction="20000"/>
          </a:bodyPr>
          <a:lstStyle/>
          <a:p>
            <a:pPr>
              <a:buFont typeface="Arial" panose="020B0604020202020204" pitchFamily="34" charset="0"/>
              <a:buChar char="•"/>
            </a:pPr>
            <a:r>
              <a:rPr lang="en-US" sz="2000" b="1" dirty="0">
                <a:latin typeface="Fredoka SemiBold" pitchFamily="2" charset="-79"/>
                <a:cs typeface="Fredoka SemiBold" pitchFamily="2" charset="-79"/>
              </a:rPr>
              <a:t>Sales Managers</a:t>
            </a:r>
            <a:r>
              <a:rPr lang="en-US" sz="2000" dirty="0">
                <a:latin typeface="Fredoka SemiBold" pitchFamily="2" charset="-79"/>
                <a:cs typeface="Fredoka SemiBold" pitchFamily="2" charset="-79"/>
              </a:rPr>
              <a:t>: </a:t>
            </a:r>
            <a:r>
              <a:rPr lang="en-US" sz="2000" dirty="0">
                <a:solidFill>
                  <a:schemeClr val="tx1">
                    <a:lumMod val="65000"/>
                    <a:lumOff val="35000"/>
                  </a:schemeClr>
                </a:solidFill>
                <a:latin typeface="Fredoka SemiBold" pitchFamily="2" charset="-79"/>
                <a:cs typeface="Fredoka SemiBold" pitchFamily="2" charset="-79"/>
              </a:rPr>
              <a:t>Need to track revenue, profit trends, and top-performing products to adjust strategies.</a:t>
            </a:r>
          </a:p>
          <a:p>
            <a:pPr>
              <a:buFont typeface="Arial" panose="020B0604020202020204" pitchFamily="34" charset="0"/>
              <a:buChar char="•"/>
            </a:pPr>
            <a:endParaRPr lang="en-US" sz="2000" b="1" dirty="0">
              <a:solidFill>
                <a:schemeClr val="tx1">
                  <a:lumMod val="65000"/>
                  <a:lumOff val="35000"/>
                </a:schemeClr>
              </a:solidFill>
              <a:latin typeface="Fredoka SemiBold" pitchFamily="2" charset="-79"/>
              <a:cs typeface="Fredoka SemiBold" pitchFamily="2" charset="-79"/>
            </a:endParaRPr>
          </a:p>
          <a:p>
            <a:pPr>
              <a:buFont typeface="Arial" panose="020B0604020202020204" pitchFamily="34" charset="0"/>
              <a:buChar char="•"/>
            </a:pPr>
            <a:r>
              <a:rPr lang="en-US" sz="2000" b="1" dirty="0">
                <a:latin typeface="Fredoka SemiBold" pitchFamily="2" charset="-79"/>
                <a:cs typeface="Fredoka SemiBold" pitchFamily="2" charset="-79"/>
              </a:rPr>
              <a:t>Marketing Teams</a:t>
            </a:r>
            <a:r>
              <a:rPr lang="en-US" sz="2000" dirty="0">
                <a:latin typeface="Fredoka SemiBold" pitchFamily="2" charset="-79"/>
                <a:cs typeface="Fredoka SemiBold" pitchFamily="2" charset="-79"/>
              </a:rPr>
              <a:t>: </a:t>
            </a:r>
            <a:r>
              <a:rPr lang="en-US" sz="2000" dirty="0">
                <a:solidFill>
                  <a:schemeClr val="tx1">
                    <a:lumMod val="65000"/>
                    <a:lumOff val="35000"/>
                  </a:schemeClr>
                </a:solidFill>
                <a:latin typeface="Fredoka SemiBold" pitchFamily="2" charset="-79"/>
                <a:cs typeface="Fredoka SemiBold" pitchFamily="2" charset="-79"/>
              </a:rPr>
              <a:t>Use insights about seasonality and regional demand to run targeted campaigns.</a:t>
            </a:r>
          </a:p>
          <a:p>
            <a:pPr>
              <a:buFont typeface="Arial" panose="020B0604020202020204" pitchFamily="34" charset="0"/>
              <a:buChar char="•"/>
            </a:pPr>
            <a:endParaRPr lang="en-US" sz="2000" dirty="0">
              <a:solidFill>
                <a:schemeClr val="tx1">
                  <a:lumMod val="65000"/>
                  <a:lumOff val="35000"/>
                </a:schemeClr>
              </a:solidFill>
              <a:latin typeface="Fredoka SemiBold" pitchFamily="2" charset="-79"/>
              <a:cs typeface="Fredoka SemiBold" pitchFamily="2" charset="-79"/>
            </a:endParaRPr>
          </a:p>
          <a:p>
            <a:pPr>
              <a:buFont typeface="Arial" panose="020B0604020202020204" pitchFamily="34" charset="0"/>
              <a:buChar char="•"/>
            </a:pPr>
            <a:r>
              <a:rPr lang="en-US" sz="2000" b="1" dirty="0">
                <a:latin typeface="Fredoka SemiBold" pitchFamily="2" charset="-79"/>
                <a:cs typeface="Fredoka SemiBold" pitchFamily="2" charset="-79"/>
              </a:rPr>
              <a:t>Inventory Managers</a:t>
            </a:r>
            <a:r>
              <a:rPr lang="en-US" sz="2000" dirty="0">
                <a:latin typeface="Fredoka SemiBold" pitchFamily="2" charset="-79"/>
                <a:cs typeface="Fredoka SemiBold" pitchFamily="2" charset="-79"/>
              </a:rPr>
              <a:t>: </a:t>
            </a:r>
            <a:r>
              <a:rPr lang="en-US" sz="2000" dirty="0">
                <a:solidFill>
                  <a:schemeClr val="tx1">
                    <a:lumMod val="65000"/>
                    <a:lumOff val="35000"/>
                  </a:schemeClr>
                </a:solidFill>
                <a:latin typeface="Fredoka SemiBold" pitchFamily="2" charset="-79"/>
                <a:cs typeface="Fredoka SemiBold" pitchFamily="2" charset="-79"/>
              </a:rPr>
              <a:t>Require visibility into high-demand items and underperforming products to manage stock levels.</a:t>
            </a:r>
          </a:p>
          <a:p>
            <a:pPr>
              <a:buFont typeface="Arial" panose="020B0604020202020204" pitchFamily="34" charset="0"/>
              <a:buChar char="•"/>
            </a:pPr>
            <a:endParaRPr lang="en-US" sz="2000" dirty="0">
              <a:solidFill>
                <a:schemeClr val="tx1">
                  <a:lumMod val="65000"/>
                  <a:lumOff val="35000"/>
                </a:schemeClr>
              </a:solidFill>
              <a:latin typeface="Fredoka SemiBold" pitchFamily="2" charset="-79"/>
              <a:cs typeface="Fredoka SemiBold" pitchFamily="2" charset="-79"/>
            </a:endParaRPr>
          </a:p>
          <a:p>
            <a:pPr>
              <a:buFont typeface="Arial" panose="020B0604020202020204" pitchFamily="34" charset="0"/>
              <a:buChar char="•"/>
            </a:pPr>
            <a:r>
              <a:rPr lang="en-US" sz="2000" b="1" dirty="0">
                <a:latin typeface="Fredoka SemiBold" pitchFamily="2" charset="-79"/>
                <a:cs typeface="Fredoka SemiBold" pitchFamily="2" charset="-79"/>
              </a:rPr>
              <a:t>Executives &amp; Decision-Makers</a:t>
            </a:r>
            <a:r>
              <a:rPr lang="en-US" sz="2000" dirty="0">
                <a:latin typeface="Fredoka SemiBold" pitchFamily="2" charset="-79"/>
                <a:cs typeface="Fredoka SemiBold" pitchFamily="2" charset="-79"/>
              </a:rPr>
              <a:t>: </a:t>
            </a:r>
            <a:r>
              <a:rPr lang="en-US" sz="2000" dirty="0">
                <a:solidFill>
                  <a:schemeClr val="tx1">
                    <a:lumMod val="65000"/>
                    <a:lumOff val="35000"/>
                  </a:schemeClr>
                </a:solidFill>
                <a:latin typeface="Fredoka SemiBold" pitchFamily="2" charset="-79"/>
                <a:cs typeface="Fredoka SemiBold" pitchFamily="2" charset="-79"/>
              </a:rPr>
              <a:t>Seek clear visual summaries to guide strategic decisions.</a:t>
            </a:r>
          </a:p>
        </p:txBody>
      </p:sp>
      <p:sp>
        <p:nvSpPr>
          <p:cNvPr id="4" name="Slide Number Placeholder 3">
            <a:extLst>
              <a:ext uri="{FF2B5EF4-FFF2-40B4-BE49-F238E27FC236}">
                <a16:creationId xmlns:a16="http://schemas.microsoft.com/office/drawing/2014/main" id="{B7C2B7B6-E9B0-A129-D875-1CFD46818CC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Nizar Cocon Kurdish" panose="020A0503020102020204" pitchFamily="18" charset="-78"/>
                <a:cs typeface="Nizar Cocon Kurdish" panose="020A0503020102020204" pitchFamily="18" charset="-78"/>
              </a:rPr>
              <a:t>11</a:t>
            </a:fld>
            <a:endParaRPr lang="en-US" dirty="0">
              <a:latin typeface="Nizar Cocon Kurdish" panose="020A0503020102020204" pitchFamily="18" charset="-78"/>
              <a:cs typeface="Nizar Cocon Kurdish" panose="020A0503020102020204" pitchFamily="18" charset="-78"/>
            </a:endParaRPr>
          </a:p>
        </p:txBody>
      </p:sp>
      <p:sp>
        <p:nvSpPr>
          <p:cNvPr id="5" name="TextBox 4">
            <a:extLst>
              <a:ext uri="{FF2B5EF4-FFF2-40B4-BE49-F238E27FC236}">
                <a16:creationId xmlns:a16="http://schemas.microsoft.com/office/drawing/2014/main" id="{DB034A0D-3F9B-D349-42BC-D126BFE3AC94}"/>
              </a:ext>
            </a:extLst>
          </p:cNvPr>
          <p:cNvSpPr txBox="1"/>
          <p:nvPr/>
        </p:nvSpPr>
        <p:spPr>
          <a:xfrm>
            <a:off x="843148" y="6356350"/>
            <a:ext cx="2738253" cy="369332"/>
          </a:xfrm>
          <a:prstGeom prst="rect">
            <a:avLst/>
          </a:prstGeom>
          <a:noFill/>
        </p:spPr>
        <p:txBody>
          <a:bodyPr wrap="square" rtlCol="1">
            <a:spAutoFit/>
          </a:bodyPr>
          <a:lstStyle/>
          <a:p>
            <a:pPr algn="ctr"/>
            <a:r>
              <a:rPr lang="en-US" sz="1800" dirty="0">
                <a:solidFill>
                  <a:schemeClr val="bg1"/>
                </a:solidFill>
                <a:latin typeface="Nizar Cocon Kurdish" panose="020A0503020102020204" pitchFamily="18" charset="-78"/>
                <a:cs typeface="Nizar Cocon Kurdish" panose="020A0503020102020204" pitchFamily="18" charset="-78"/>
              </a:rPr>
              <a:t>17/5/2025</a:t>
            </a:r>
            <a:endParaRPr lang="ar-EG" sz="1800" dirty="0">
              <a:solidFill>
                <a:schemeClr val="bg1"/>
              </a:solidFill>
              <a:latin typeface="Nizar Cocon Kurdish" panose="020A0503020102020204" pitchFamily="18" charset="-78"/>
              <a:cs typeface="Nizar Cocon Kurdish" panose="020A0503020102020204" pitchFamily="18" charset="-78"/>
            </a:endParaRPr>
          </a:p>
        </p:txBody>
      </p:sp>
      <p:pic>
        <p:nvPicPr>
          <p:cNvPr id="9" name="Picture 8">
            <a:extLst>
              <a:ext uri="{FF2B5EF4-FFF2-40B4-BE49-F238E27FC236}">
                <a16:creationId xmlns:a16="http://schemas.microsoft.com/office/drawing/2014/main" id="{728067BD-33C8-188A-0CC5-2867C16D560D}"/>
              </a:ext>
            </a:extLst>
          </p:cNvPr>
          <p:cNvPicPr>
            <a:picLocks noChangeAspect="1"/>
          </p:cNvPicPr>
          <p:nvPr/>
        </p:nvPicPr>
        <p:blipFill>
          <a:blip r:embed="rId2"/>
          <a:stretch>
            <a:fillRect/>
          </a:stretch>
        </p:blipFill>
        <p:spPr>
          <a:xfrm>
            <a:off x="6558644" y="1559421"/>
            <a:ext cx="5459116" cy="4280251"/>
          </a:xfrm>
          <a:prstGeom prst="rect">
            <a:avLst/>
          </a:prstGeom>
        </p:spPr>
      </p:pic>
    </p:spTree>
    <p:extLst>
      <p:ext uri="{BB962C8B-B14F-4D97-AF65-F5344CB8AC3E}">
        <p14:creationId xmlns:p14="http://schemas.microsoft.com/office/powerpoint/2010/main" val="2792255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E039B-55E3-CDDC-90CA-17619D45E975}"/>
              </a:ext>
            </a:extLst>
          </p:cNvPr>
          <p:cNvSpPr>
            <a:spLocks noGrp="1"/>
          </p:cNvSpPr>
          <p:nvPr>
            <p:ph type="title"/>
          </p:nvPr>
        </p:nvSpPr>
        <p:spPr/>
        <p:txBody>
          <a:bodyPr>
            <a:normAutofit/>
          </a:bodyPr>
          <a:lstStyle/>
          <a:p>
            <a:pPr algn="ctr"/>
            <a:r>
              <a:rPr lang="hr-HR" sz="4000" b="1" dirty="0">
                <a:solidFill>
                  <a:srgbClr val="2AAF82"/>
                </a:solidFill>
                <a:latin typeface="Fredoka SemiBold" pitchFamily="2" charset="-79"/>
                <a:cs typeface="Fredoka SemiBold" pitchFamily="2" charset="-79"/>
              </a:rPr>
              <a:t>Key Features &amp; Benefits:</a:t>
            </a:r>
            <a:endParaRPr lang="hr-HR" sz="4000" dirty="0">
              <a:solidFill>
                <a:srgbClr val="2AAF82"/>
              </a:solidFill>
              <a:latin typeface="Fredoka SemiBold" pitchFamily="2" charset="-79"/>
              <a:cs typeface="Fredoka SemiBold" pitchFamily="2" charset="-79"/>
            </a:endParaRPr>
          </a:p>
        </p:txBody>
      </p:sp>
      <p:sp>
        <p:nvSpPr>
          <p:cNvPr id="4" name="Slide Number Placeholder 3">
            <a:extLst>
              <a:ext uri="{FF2B5EF4-FFF2-40B4-BE49-F238E27FC236}">
                <a16:creationId xmlns:a16="http://schemas.microsoft.com/office/drawing/2014/main" id="{B7C2B7B6-E9B0-A129-D875-1CFD46818CC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Nizar Cocon Kurdish" panose="020A0503020102020204" pitchFamily="18" charset="-78"/>
                <a:cs typeface="Nizar Cocon Kurdish" panose="020A0503020102020204" pitchFamily="18" charset="-78"/>
              </a:rPr>
              <a:t>12</a:t>
            </a:fld>
            <a:endParaRPr lang="en-US" dirty="0">
              <a:latin typeface="Nizar Cocon Kurdish" panose="020A0503020102020204" pitchFamily="18" charset="-78"/>
              <a:cs typeface="Nizar Cocon Kurdish" panose="020A0503020102020204" pitchFamily="18" charset="-78"/>
            </a:endParaRPr>
          </a:p>
        </p:txBody>
      </p:sp>
      <p:graphicFrame>
        <p:nvGraphicFramePr>
          <p:cNvPr id="5" name="Table 4">
            <a:extLst>
              <a:ext uri="{FF2B5EF4-FFF2-40B4-BE49-F238E27FC236}">
                <a16:creationId xmlns:a16="http://schemas.microsoft.com/office/drawing/2014/main" id="{4C3B3150-3E02-C1D2-9B34-C5CCC0E7C054}"/>
              </a:ext>
            </a:extLst>
          </p:cNvPr>
          <p:cNvGraphicFramePr>
            <a:graphicFrameLocks noGrp="1"/>
          </p:cNvGraphicFramePr>
          <p:nvPr>
            <p:extLst>
              <p:ext uri="{D42A27DB-BD31-4B8C-83A1-F6EECF244321}">
                <p14:modId xmlns:p14="http://schemas.microsoft.com/office/powerpoint/2010/main" val="4126416750"/>
              </p:ext>
            </p:extLst>
          </p:nvPr>
        </p:nvGraphicFramePr>
        <p:xfrm>
          <a:off x="838200" y="1603169"/>
          <a:ext cx="10515600" cy="4476997"/>
        </p:xfrm>
        <a:graphic>
          <a:graphicData uri="http://schemas.openxmlformats.org/drawingml/2006/table">
            <a:tbl>
              <a:tblPr/>
              <a:tblGrid>
                <a:gridCol w="3448792">
                  <a:extLst>
                    <a:ext uri="{9D8B030D-6E8A-4147-A177-3AD203B41FA5}">
                      <a16:colId xmlns:a16="http://schemas.microsoft.com/office/drawing/2014/main" val="1084876555"/>
                    </a:ext>
                  </a:extLst>
                </a:gridCol>
                <a:gridCol w="7066808">
                  <a:extLst>
                    <a:ext uri="{9D8B030D-6E8A-4147-A177-3AD203B41FA5}">
                      <a16:colId xmlns:a16="http://schemas.microsoft.com/office/drawing/2014/main" val="841349110"/>
                    </a:ext>
                  </a:extLst>
                </a:gridCol>
              </a:tblGrid>
              <a:tr h="639571">
                <a:tc>
                  <a:txBody>
                    <a:bodyPr/>
                    <a:lstStyle/>
                    <a:p>
                      <a:r>
                        <a:rPr lang="hr-HR" b="1" dirty="0">
                          <a:solidFill>
                            <a:schemeClr val="bg1"/>
                          </a:solidFill>
                          <a:latin typeface="Fredoka SemiBold" pitchFamily="2" charset="-79"/>
                          <a:cs typeface="Fredoka SemiBold" pitchFamily="2" charset="-79"/>
                        </a:rPr>
                        <a:t>Feature</a:t>
                      </a:r>
                      <a:endParaRPr lang="hr-HR" dirty="0">
                        <a:solidFill>
                          <a:schemeClr val="bg1"/>
                        </a:solidFill>
                        <a:latin typeface="Fredoka SemiBold" pitchFamily="2" charset="-79"/>
                        <a:cs typeface="Fredoka SemiBold" pitchFamily="2" charset="-79"/>
                      </a:endParaRPr>
                    </a:p>
                  </a:txBody>
                  <a:tcPr anchor="ctr">
                    <a:lnL>
                      <a:noFill/>
                    </a:lnL>
                    <a:lnR>
                      <a:noFill/>
                    </a:lnR>
                    <a:lnT>
                      <a:noFill/>
                    </a:lnT>
                    <a:lnB>
                      <a:noFill/>
                    </a:lnB>
                    <a:solidFill>
                      <a:schemeClr val="tx1"/>
                    </a:solidFill>
                  </a:tcPr>
                </a:tc>
                <a:tc>
                  <a:txBody>
                    <a:bodyPr/>
                    <a:lstStyle/>
                    <a:p>
                      <a:r>
                        <a:rPr lang="hr-HR" b="1" dirty="0">
                          <a:solidFill>
                            <a:schemeClr val="bg1"/>
                          </a:solidFill>
                          <a:latin typeface="Fredoka SemiBold" pitchFamily="2" charset="-79"/>
                          <a:cs typeface="Fredoka SemiBold" pitchFamily="2" charset="-79"/>
                        </a:rPr>
                        <a:t>User Need Addressed</a:t>
                      </a:r>
                      <a:endParaRPr lang="hr-HR" dirty="0">
                        <a:solidFill>
                          <a:schemeClr val="bg1"/>
                        </a:solidFill>
                        <a:latin typeface="Fredoka SemiBold" pitchFamily="2" charset="-79"/>
                        <a:cs typeface="Fredoka SemiBold" pitchFamily="2" charset="-79"/>
                      </a:endParaRPr>
                    </a:p>
                  </a:txBody>
                  <a:tcPr anchor="ctr">
                    <a:lnL>
                      <a:noFill/>
                    </a:lnL>
                    <a:lnR>
                      <a:noFill/>
                    </a:lnR>
                    <a:lnT>
                      <a:noFill/>
                    </a:lnT>
                    <a:lnB>
                      <a:noFill/>
                    </a:lnB>
                    <a:solidFill>
                      <a:schemeClr val="tx1"/>
                    </a:solidFill>
                  </a:tcPr>
                </a:tc>
                <a:extLst>
                  <a:ext uri="{0D108BD9-81ED-4DB2-BD59-A6C34878D82A}">
                    <a16:rowId xmlns:a16="http://schemas.microsoft.com/office/drawing/2014/main" val="3809025344"/>
                  </a:ext>
                </a:extLst>
              </a:tr>
              <a:tr h="639571">
                <a:tc>
                  <a:txBody>
                    <a:bodyPr/>
                    <a:lstStyle/>
                    <a:p>
                      <a:r>
                        <a:rPr lang="hr-HR" dirty="0">
                          <a:latin typeface="Fredoka SemiBold" pitchFamily="2" charset="-79"/>
                          <a:cs typeface="Fredoka SemiBold" pitchFamily="2" charset="-79"/>
                        </a:rPr>
                        <a:t>Interactive Tableau Dashboards</a:t>
                      </a:r>
                    </a:p>
                  </a:txBody>
                  <a:tcPr anchor="ctr">
                    <a:lnL>
                      <a:noFill/>
                    </a:lnL>
                    <a:lnR>
                      <a:noFill/>
                    </a:lnR>
                    <a:lnT>
                      <a:noFill/>
                    </a:lnT>
                    <a:lnB>
                      <a:noFill/>
                    </a:lnB>
                    <a:solidFill>
                      <a:schemeClr val="bg1">
                        <a:lumMod val="95000"/>
                      </a:schemeClr>
                    </a:solidFill>
                  </a:tcPr>
                </a:tc>
                <a:tc>
                  <a:txBody>
                    <a:bodyPr/>
                    <a:lstStyle/>
                    <a:p>
                      <a:r>
                        <a:rPr lang="en-US" dirty="0">
                          <a:latin typeface="Fredoka SemiBold" pitchFamily="2" charset="-79"/>
                          <a:cs typeface="Fredoka SemiBold" pitchFamily="2" charset="-79"/>
                        </a:rPr>
                        <a:t>Quick and clear decision-making through visual storytelling</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1828438572"/>
                  </a:ext>
                </a:extLst>
              </a:tr>
              <a:tr h="639571">
                <a:tc>
                  <a:txBody>
                    <a:bodyPr/>
                    <a:lstStyle/>
                    <a:p>
                      <a:r>
                        <a:rPr lang="hr-HR" dirty="0">
                          <a:latin typeface="Fredoka SemiBold" pitchFamily="2" charset="-79"/>
                          <a:cs typeface="Fredoka SemiBold" pitchFamily="2" charset="-79"/>
                        </a:rPr>
                        <a:t>Profit &amp; Order Trend Analysis</a:t>
                      </a:r>
                    </a:p>
                  </a:txBody>
                  <a:tcPr anchor="ctr">
                    <a:lnL>
                      <a:noFill/>
                    </a:lnL>
                    <a:lnR>
                      <a:noFill/>
                    </a:lnR>
                    <a:lnT>
                      <a:noFill/>
                    </a:lnT>
                    <a:lnB>
                      <a:noFill/>
                    </a:lnB>
                    <a:solidFill>
                      <a:schemeClr val="bg1">
                        <a:lumMod val="75000"/>
                      </a:schemeClr>
                    </a:solidFill>
                  </a:tcPr>
                </a:tc>
                <a:tc>
                  <a:txBody>
                    <a:bodyPr/>
                    <a:lstStyle/>
                    <a:p>
                      <a:r>
                        <a:rPr lang="en-US" dirty="0">
                          <a:latin typeface="Fredoka SemiBold" pitchFamily="2" charset="-79"/>
                          <a:cs typeface="Fredoka SemiBold" pitchFamily="2" charset="-79"/>
                        </a:rPr>
                        <a:t>Helps Sales Managers understand performance over time</a:t>
                      </a:r>
                    </a:p>
                  </a:txBody>
                  <a:tcPr anchor="ctr">
                    <a:lnL>
                      <a:noFill/>
                    </a:lnL>
                    <a:lnR>
                      <a:noFill/>
                    </a:lnR>
                    <a:lnT>
                      <a:noFill/>
                    </a:lnT>
                    <a:lnB>
                      <a:noFill/>
                    </a:lnB>
                    <a:solidFill>
                      <a:schemeClr val="bg1">
                        <a:lumMod val="75000"/>
                      </a:schemeClr>
                    </a:solidFill>
                  </a:tcPr>
                </a:tc>
                <a:extLst>
                  <a:ext uri="{0D108BD9-81ED-4DB2-BD59-A6C34878D82A}">
                    <a16:rowId xmlns:a16="http://schemas.microsoft.com/office/drawing/2014/main" val="258519706"/>
                  </a:ext>
                </a:extLst>
              </a:tr>
              <a:tr h="639571">
                <a:tc>
                  <a:txBody>
                    <a:bodyPr/>
                    <a:lstStyle/>
                    <a:p>
                      <a:r>
                        <a:rPr lang="hr-HR" dirty="0">
                          <a:latin typeface="Fredoka SemiBold" pitchFamily="2" charset="-79"/>
                          <a:cs typeface="Fredoka SemiBold" pitchFamily="2" charset="-79"/>
                        </a:rPr>
                        <a:t>Category &amp; Sub-Category Breakdown</a:t>
                      </a:r>
                    </a:p>
                  </a:txBody>
                  <a:tcPr anchor="ctr">
                    <a:lnL>
                      <a:noFill/>
                    </a:lnL>
                    <a:lnR>
                      <a:noFill/>
                    </a:lnR>
                    <a:lnT>
                      <a:noFill/>
                    </a:lnT>
                    <a:lnB>
                      <a:noFill/>
                    </a:lnB>
                    <a:solidFill>
                      <a:schemeClr val="bg1">
                        <a:lumMod val="95000"/>
                      </a:schemeClr>
                    </a:solidFill>
                  </a:tcPr>
                </a:tc>
                <a:tc>
                  <a:txBody>
                    <a:bodyPr/>
                    <a:lstStyle/>
                    <a:p>
                      <a:r>
                        <a:rPr lang="en-US" dirty="0">
                          <a:latin typeface="Fredoka SemiBold" pitchFamily="2" charset="-79"/>
                          <a:cs typeface="Fredoka SemiBold" pitchFamily="2" charset="-79"/>
                        </a:rPr>
                        <a:t>Assists Marketing in product targeting and campaign focus</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850851055"/>
                  </a:ext>
                </a:extLst>
              </a:tr>
              <a:tr h="639571">
                <a:tc>
                  <a:txBody>
                    <a:bodyPr/>
                    <a:lstStyle/>
                    <a:p>
                      <a:r>
                        <a:rPr lang="hr-HR" dirty="0">
                          <a:latin typeface="Fredoka SemiBold" pitchFamily="2" charset="-79"/>
                          <a:cs typeface="Fredoka SemiBold" pitchFamily="2" charset="-79"/>
                        </a:rPr>
                        <a:t>Regional &amp; State-Level Insights</a:t>
                      </a:r>
                    </a:p>
                  </a:txBody>
                  <a:tcPr anchor="ctr">
                    <a:lnL>
                      <a:noFill/>
                    </a:lnL>
                    <a:lnR>
                      <a:noFill/>
                    </a:lnR>
                    <a:lnT>
                      <a:noFill/>
                    </a:lnT>
                    <a:lnB>
                      <a:noFill/>
                    </a:lnB>
                    <a:solidFill>
                      <a:schemeClr val="bg1">
                        <a:lumMod val="75000"/>
                      </a:schemeClr>
                    </a:solidFill>
                  </a:tcPr>
                </a:tc>
                <a:tc>
                  <a:txBody>
                    <a:bodyPr/>
                    <a:lstStyle/>
                    <a:p>
                      <a:r>
                        <a:rPr lang="en-US" dirty="0">
                          <a:latin typeface="Fredoka SemiBold" pitchFamily="2" charset="-79"/>
                          <a:cs typeface="Fredoka SemiBold" pitchFamily="2" charset="-79"/>
                        </a:rPr>
                        <a:t>Guides expansion or optimization efforts by Executives</a:t>
                      </a:r>
                    </a:p>
                  </a:txBody>
                  <a:tcPr anchor="ctr">
                    <a:lnL>
                      <a:noFill/>
                    </a:lnL>
                    <a:lnR>
                      <a:noFill/>
                    </a:lnR>
                    <a:lnT>
                      <a:noFill/>
                    </a:lnT>
                    <a:lnB>
                      <a:noFill/>
                    </a:lnB>
                    <a:solidFill>
                      <a:schemeClr val="bg1">
                        <a:lumMod val="75000"/>
                      </a:schemeClr>
                    </a:solidFill>
                  </a:tcPr>
                </a:tc>
                <a:extLst>
                  <a:ext uri="{0D108BD9-81ED-4DB2-BD59-A6C34878D82A}">
                    <a16:rowId xmlns:a16="http://schemas.microsoft.com/office/drawing/2014/main" val="1173791851"/>
                  </a:ext>
                </a:extLst>
              </a:tr>
              <a:tr h="639571">
                <a:tc>
                  <a:txBody>
                    <a:bodyPr/>
                    <a:lstStyle/>
                    <a:p>
                      <a:r>
                        <a:rPr lang="hr-HR" dirty="0">
                          <a:latin typeface="Fredoka SemiBold" pitchFamily="2" charset="-79"/>
                          <a:cs typeface="Fredoka SemiBold" pitchFamily="2" charset="-79"/>
                        </a:rPr>
                        <a:t>Shipping Method Analysis</a:t>
                      </a:r>
                    </a:p>
                  </a:txBody>
                  <a:tcPr anchor="ctr">
                    <a:lnL>
                      <a:noFill/>
                    </a:lnL>
                    <a:lnR>
                      <a:noFill/>
                    </a:lnR>
                    <a:lnT>
                      <a:noFill/>
                    </a:lnT>
                    <a:lnB>
                      <a:noFill/>
                    </a:lnB>
                    <a:solidFill>
                      <a:schemeClr val="bg1">
                        <a:lumMod val="95000"/>
                      </a:schemeClr>
                    </a:solidFill>
                  </a:tcPr>
                </a:tc>
                <a:tc>
                  <a:txBody>
                    <a:bodyPr/>
                    <a:lstStyle/>
                    <a:p>
                      <a:r>
                        <a:rPr lang="en-US" dirty="0">
                          <a:latin typeface="Fredoka SemiBold" pitchFamily="2" charset="-79"/>
                          <a:cs typeface="Fredoka SemiBold" pitchFamily="2" charset="-79"/>
                        </a:rPr>
                        <a:t>Helps Operations improve logistics and customer satisfaction</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1702989960"/>
                  </a:ext>
                </a:extLst>
              </a:tr>
              <a:tr h="639571">
                <a:tc>
                  <a:txBody>
                    <a:bodyPr/>
                    <a:lstStyle/>
                    <a:p>
                      <a:r>
                        <a:rPr lang="hr-HR" dirty="0">
                          <a:latin typeface="Fredoka SemiBold" pitchFamily="2" charset="-79"/>
                          <a:cs typeface="Fredoka SemiBold" pitchFamily="2" charset="-79"/>
                        </a:rPr>
                        <a:t>Customer Segmentation Analysis</a:t>
                      </a:r>
                    </a:p>
                  </a:txBody>
                  <a:tcPr anchor="ctr">
                    <a:lnL>
                      <a:noFill/>
                    </a:lnL>
                    <a:lnR>
                      <a:noFill/>
                    </a:lnR>
                    <a:lnT>
                      <a:noFill/>
                    </a:lnT>
                    <a:lnB>
                      <a:noFill/>
                    </a:lnB>
                    <a:solidFill>
                      <a:schemeClr val="bg1">
                        <a:lumMod val="75000"/>
                      </a:schemeClr>
                    </a:solidFill>
                  </a:tcPr>
                </a:tc>
                <a:tc>
                  <a:txBody>
                    <a:bodyPr/>
                    <a:lstStyle/>
                    <a:p>
                      <a:r>
                        <a:rPr lang="en-US" dirty="0">
                          <a:latin typeface="Fredoka SemiBold" pitchFamily="2" charset="-79"/>
                          <a:cs typeface="Fredoka SemiBold" pitchFamily="2" charset="-79"/>
                        </a:rPr>
                        <a:t>Supports Marketing with tailored messaging for each segment</a:t>
                      </a:r>
                    </a:p>
                  </a:txBody>
                  <a:tcPr anchor="ctr">
                    <a:lnL>
                      <a:noFill/>
                    </a:lnL>
                    <a:lnR>
                      <a:noFill/>
                    </a:lnR>
                    <a:lnT>
                      <a:noFill/>
                    </a:lnT>
                    <a:lnB>
                      <a:noFill/>
                    </a:lnB>
                    <a:solidFill>
                      <a:schemeClr val="bg1">
                        <a:lumMod val="75000"/>
                      </a:schemeClr>
                    </a:solidFill>
                  </a:tcPr>
                </a:tc>
                <a:extLst>
                  <a:ext uri="{0D108BD9-81ED-4DB2-BD59-A6C34878D82A}">
                    <a16:rowId xmlns:a16="http://schemas.microsoft.com/office/drawing/2014/main" val="2634603315"/>
                  </a:ext>
                </a:extLst>
              </a:tr>
            </a:tbl>
          </a:graphicData>
        </a:graphic>
      </p:graphicFrame>
      <p:sp>
        <p:nvSpPr>
          <p:cNvPr id="3" name="TextBox 2">
            <a:extLst>
              <a:ext uri="{FF2B5EF4-FFF2-40B4-BE49-F238E27FC236}">
                <a16:creationId xmlns:a16="http://schemas.microsoft.com/office/drawing/2014/main" id="{1CD741C8-2C1E-840F-F24D-CF70FD1934D1}"/>
              </a:ext>
            </a:extLst>
          </p:cNvPr>
          <p:cNvSpPr txBox="1"/>
          <p:nvPr/>
        </p:nvSpPr>
        <p:spPr>
          <a:xfrm>
            <a:off x="843148" y="6356350"/>
            <a:ext cx="2738253" cy="369332"/>
          </a:xfrm>
          <a:prstGeom prst="rect">
            <a:avLst/>
          </a:prstGeom>
          <a:noFill/>
        </p:spPr>
        <p:txBody>
          <a:bodyPr wrap="square" rtlCol="1">
            <a:spAutoFit/>
          </a:bodyPr>
          <a:lstStyle/>
          <a:p>
            <a:pPr algn="ctr"/>
            <a:r>
              <a:rPr lang="en-US" sz="1800" dirty="0">
                <a:solidFill>
                  <a:schemeClr val="bg1"/>
                </a:solidFill>
                <a:latin typeface="Nizar Cocon Kurdish" panose="020A0503020102020204" pitchFamily="18" charset="-78"/>
                <a:cs typeface="Nizar Cocon Kurdish" panose="020A0503020102020204" pitchFamily="18" charset="-78"/>
              </a:rPr>
              <a:t>17/5/2025</a:t>
            </a:r>
            <a:endParaRPr lang="ar-EG" sz="1800" dirty="0">
              <a:solidFill>
                <a:schemeClr val="bg1"/>
              </a:solidFill>
              <a:latin typeface="Nizar Cocon Kurdish" panose="020A0503020102020204" pitchFamily="18" charset="-78"/>
              <a:cs typeface="Nizar Cocon Kurdish" panose="020A0503020102020204" pitchFamily="18" charset="-78"/>
            </a:endParaRPr>
          </a:p>
        </p:txBody>
      </p:sp>
    </p:spTree>
    <p:extLst>
      <p:ext uri="{BB962C8B-B14F-4D97-AF65-F5344CB8AC3E}">
        <p14:creationId xmlns:p14="http://schemas.microsoft.com/office/powerpoint/2010/main" val="3557652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E039B-55E3-CDDC-90CA-17619D45E975}"/>
              </a:ext>
            </a:extLst>
          </p:cNvPr>
          <p:cNvSpPr>
            <a:spLocks noGrp="1"/>
          </p:cNvSpPr>
          <p:nvPr>
            <p:ph type="title"/>
          </p:nvPr>
        </p:nvSpPr>
        <p:spPr/>
        <p:txBody>
          <a:bodyPr>
            <a:normAutofit/>
          </a:bodyPr>
          <a:lstStyle/>
          <a:p>
            <a:pPr algn="ctr"/>
            <a:r>
              <a:rPr lang="en-US" sz="4000" b="1" i="0" u="none" strike="noStrike" cap="none" dirty="0">
                <a:solidFill>
                  <a:srgbClr val="2AAF82"/>
                </a:solidFill>
                <a:latin typeface="Fredoka SemiBold" pitchFamily="2" charset="-79"/>
                <a:ea typeface="Arial"/>
                <a:cs typeface="Fredoka SemiBold" pitchFamily="2" charset="-79"/>
                <a:sym typeface="Arial"/>
              </a:rPr>
              <a:t>Data Structure</a:t>
            </a:r>
            <a:endParaRPr lang="ar-EG" sz="4000" dirty="0">
              <a:solidFill>
                <a:srgbClr val="2AAF82"/>
              </a:solidFill>
              <a:latin typeface="Fredoka SemiBold" pitchFamily="2" charset="-79"/>
            </a:endParaRPr>
          </a:p>
        </p:txBody>
      </p:sp>
      <p:sp>
        <p:nvSpPr>
          <p:cNvPr id="3" name="Text Placeholder 2">
            <a:extLst>
              <a:ext uri="{FF2B5EF4-FFF2-40B4-BE49-F238E27FC236}">
                <a16:creationId xmlns:a16="http://schemas.microsoft.com/office/drawing/2014/main" id="{4B5372B1-7916-EC33-659A-7FE146441B13}"/>
              </a:ext>
            </a:extLst>
          </p:cNvPr>
          <p:cNvSpPr>
            <a:spLocks noGrp="1"/>
          </p:cNvSpPr>
          <p:nvPr>
            <p:ph type="body" idx="1"/>
          </p:nvPr>
        </p:nvSpPr>
        <p:spPr>
          <a:xfrm>
            <a:off x="838200" y="1611953"/>
            <a:ext cx="10515600" cy="4351338"/>
          </a:xfrm>
        </p:spPr>
        <p:txBody>
          <a:bodyPr>
            <a:normAutofit/>
          </a:bodyPr>
          <a:lstStyle/>
          <a:p>
            <a:r>
              <a:rPr lang="hr-HR" sz="2400" dirty="0">
                <a:latin typeface="Nizar Cocon Kurdish" panose="020A0503020102020204" pitchFamily="18" charset="-78"/>
                <a:cs typeface="Nizar Cocon Kurdish" panose="020A0503020102020204" pitchFamily="18" charset="-78"/>
              </a:rPr>
              <a:t>Data Source: </a:t>
            </a:r>
            <a:r>
              <a:rPr lang="hr-HR" sz="2400" dirty="0">
                <a:solidFill>
                  <a:srgbClr val="4F4F4F"/>
                </a:solidFill>
                <a:latin typeface="Nizar Cocon Kurdish" panose="020A0503020102020204" pitchFamily="18" charset="-78"/>
                <a:cs typeface="Nizar Cocon Kurdish" panose="020A0503020102020204" pitchFamily="18" charset="-78"/>
              </a:rPr>
              <a:t>Superstore Dataset (CSV, 9,994 rows)</a:t>
            </a:r>
            <a:endParaRPr lang="en-US" sz="2400" dirty="0">
              <a:solidFill>
                <a:srgbClr val="4F4F4F"/>
              </a:solidFill>
              <a:latin typeface="Nizar Cocon Kurdish" panose="020A0503020102020204" pitchFamily="18" charset="-78"/>
              <a:cs typeface="Nizar Cocon Kurdish" panose="020A0503020102020204" pitchFamily="18" charset="-78"/>
            </a:endParaRPr>
          </a:p>
          <a:p>
            <a:endParaRPr lang="hr-HR" sz="2400" dirty="0">
              <a:solidFill>
                <a:srgbClr val="4F4F4F"/>
              </a:solidFill>
              <a:latin typeface="Nizar Cocon Kurdish" panose="020A0503020102020204" pitchFamily="18" charset="-78"/>
              <a:cs typeface="Nizar Cocon Kurdish" panose="020A0503020102020204" pitchFamily="18" charset="-78"/>
            </a:endParaRPr>
          </a:p>
          <a:p>
            <a:r>
              <a:rPr lang="hr-HR" sz="2400" dirty="0">
                <a:latin typeface="Nizar Cocon Kurdish" panose="020A0503020102020204" pitchFamily="18" charset="-78"/>
                <a:cs typeface="Nizar Cocon Kurdish" panose="020A0503020102020204" pitchFamily="18" charset="-78"/>
              </a:rPr>
              <a:t>Structure: </a:t>
            </a:r>
            <a:r>
              <a:rPr lang="hr-HR" sz="2400" dirty="0">
                <a:solidFill>
                  <a:schemeClr val="tx1">
                    <a:lumMod val="65000"/>
                    <a:lumOff val="35000"/>
                  </a:schemeClr>
                </a:solidFill>
                <a:latin typeface="Nizar Cocon Kurdish" panose="020A0503020102020204" pitchFamily="18" charset="-78"/>
                <a:cs typeface="Nizar Cocon Kurdish" panose="020A0503020102020204" pitchFamily="18" charset="-78"/>
              </a:rPr>
              <a:t>Relational, used star schema with Fact &amp; Dimension tables</a:t>
            </a:r>
            <a:endParaRPr lang="en-US" sz="2400" dirty="0">
              <a:solidFill>
                <a:schemeClr val="tx1">
                  <a:lumMod val="65000"/>
                  <a:lumOff val="35000"/>
                </a:schemeClr>
              </a:solidFill>
              <a:latin typeface="Nizar Cocon Kurdish" panose="020A0503020102020204" pitchFamily="18" charset="-78"/>
              <a:cs typeface="Nizar Cocon Kurdish" panose="020A0503020102020204" pitchFamily="18" charset="-78"/>
            </a:endParaRPr>
          </a:p>
          <a:p>
            <a:endParaRPr lang="hr-HR" sz="2400" dirty="0">
              <a:solidFill>
                <a:schemeClr val="tx1">
                  <a:lumMod val="65000"/>
                  <a:lumOff val="35000"/>
                </a:schemeClr>
              </a:solidFill>
              <a:latin typeface="Nizar Cocon Kurdish" panose="020A0503020102020204" pitchFamily="18" charset="-78"/>
              <a:cs typeface="Nizar Cocon Kurdish" panose="020A0503020102020204" pitchFamily="18" charset="-78"/>
            </a:endParaRPr>
          </a:p>
          <a:p>
            <a:r>
              <a:rPr lang="hr-HR" sz="2400" dirty="0">
                <a:latin typeface="Nizar Cocon Kurdish" panose="020A0503020102020204" pitchFamily="18" charset="-78"/>
                <a:cs typeface="Nizar Cocon Kurdish" panose="020A0503020102020204" pitchFamily="18" charset="-78"/>
              </a:rPr>
              <a:t>Key Features: </a:t>
            </a:r>
            <a:r>
              <a:rPr lang="hr-HR" sz="2400" dirty="0">
                <a:solidFill>
                  <a:schemeClr val="tx1">
                    <a:lumMod val="65000"/>
                    <a:lumOff val="35000"/>
                  </a:schemeClr>
                </a:solidFill>
                <a:latin typeface="Nizar Cocon Kurdish" panose="020A0503020102020204" pitchFamily="18" charset="-78"/>
                <a:cs typeface="Nizar Cocon Kurdish" panose="020A0503020102020204" pitchFamily="18" charset="-78"/>
              </a:rPr>
              <a:t>Sales, Profit, Quantity, Discount, Date, Region, Product Info</a:t>
            </a:r>
            <a:endParaRPr lang="en-US" sz="2400" dirty="0">
              <a:solidFill>
                <a:schemeClr val="tx1">
                  <a:lumMod val="65000"/>
                  <a:lumOff val="35000"/>
                </a:schemeClr>
              </a:solidFill>
              <a:latin typeface="Nizar Cocon Kurdish" panose="020A0503020102020204" pitchFamily="18" charset="-78"/>
              <a:cs typeface="Nizar Cocon Kurdish" panose="020A0503020102020204" pitchFamily="18" charset="-78"/>
            </a:endParaRPr>
          </a:p>
          <a:p>
            <a:endParaRPr lang="hr-HR" sz="2400" dirty="0">
              <a:solidFill>
                <a:schemeClr val="tx1">
                  <a:lumMod val="65000"/>
                  <a:lumOff val="35000"/>
                </a:schemeClr>
              </a:solidFill>
              <a:latin typeface="Nizar Cocon Kurdish" panose="020A0503020102020204" pitchFamily="18" charset="-78"/>
              <a:cs typeface="Nizar Cocon Kurdish" panose="020A0503020102020204" pitchFamily="18" charset="-78"/>
            </a:endParaRPr>
          </a:p>
          <a:p>
            <a:r>
              <a:rPr lang="hr-HR" sz="2400" dirty="0">
                <a:latin typeface="Nizar Cocon Kurdish" panose="020A0503020102020204" pitchFamily="18" charset="-78"/>
                <a:cs typeface="Nizar Cocon Kurdish" panose="020A0503020102020204" pitchFamily="18" charset="-78"/>
              </a:rPr>
              <a:t>Techniques: </a:t>
            </a:r>
            <a:r>
              <a:rPr lang="hr-HR" sz="2400" dirty="0">
                <a:solidFill>
                  <a:schemeClr val="tx1">
                    <a:lumMod val="65000"/>
                    <a:lumOff val="35000"/>
                  </a:schemeClr>
                </a:solidFill>
                <a:latin typeface="Nizar Cocon Kurdish" panose="020A0503020102020204" pitchFamily="18" charset="-78"/>
                <a:cs typeface="Nizar Cocon Kurdish" panose="020A0503020102020204" pitchFamily="18" charset="-78"/>
              </a:rPr>
              <a:t>Data cleaning (Python), EDA, Data Modeling, Visualization</a:t>
            </a:r>
            <a:endParaRPr lang="en-US" sz="2400" dirty="0">
              <a:solidFill>
                <a:schemeClr val="tx1">
                  <a:lumMod val="65000"/>
                  <a:lumOff val="35000"/>
                </a:schemeClr>
              </a:solidFill>
              <a:latin typeface="Nizar Cocon Kurdish" panose="020A0503020102020204" pitchFamily="18" charset="-78"/>
              <a:cs typeface="Nizar Cocon Kurdish" panose="020A0503020102020204" pitchFamily="18" charset="-78"/>
            </a:endParaRPr>
          </a:p>
          <a:p>
            <a:pPr marL="114300" indent="0">
              <a:buNone/>
            </a:pPr>
            <a:endParaRPr lang="hr-HR" sz="2400" dirty="0">
              <a:solidFill>
                <a:schemeClr val="tx1">
                  <a:lumMod val="65000"/>
                  <a:lumOff val="35000"/>
                </a:schemeClr>
              </a:solidFill>
              <a:latin typeface="Nizar Cocon Kurdish" panose="020A0503020102020204" pitchFamily="18" charset="-78"/>
              <a:cs typeface="Nizar Cocon Kurdish" panose="020A0503020102020204" pitchFamily="18" charset="-78"/>
            </a:endParaRPr>
          </a:p>
        </p:txBody>
      </p:sp>
      <p:sp>
        <p:nvSpPr>
          <p:cNvPr id="4" name="Slide Number Placeholder 3">
            <a:extLst>
              <a:ext uri="{FF2B5EF4-FFF2-40B4-BE49-F238E27FC236}">
                <a16:creationId xmlns:a16="http://schemas.microsoft.com/office/drawing/2014/main" id="{B7C2B7B6-E9B0-A129-D875-1CFD46818CC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Nizar Cocon Kurdish" panose="020A0503020102020204" pitchFamily="18" charset="-78"/>
                <a:cs typeface="Nizar Cocon Kurdish" panose="020A0503020102020204" pitchFamily="18" charset="-78"/>
              </a:rPr>
              <a:t>13</a:t>
            </a:fld>
            <a:endParaRPr lang="en-US" dirty="0">
              <a:latin typeface="Nizar Cocon Kurdish" panose="020A0503020102020204" pitchFamily="18" charset="-78"/>
              <a:cs typeface="Nizar Cocon Kurdish" panose="020A0503020102020204" pitchFamily="18" charset="-78"/>
            </a:endParaRPr>
          </a:p>
        </p:txBody>
      </p:sp>
      <p:sp>
        <p:nvSpPr>
          <p:cNvPr id="5" name="TextBox 4">
            <a:extLst>
              <a:ext uri="{FF2B5EF4-FFF2-40B4-BE49-F238E27FC236}">
                <a16:creationId xmlns:a16="http://schemas.microsoft.com/office/drawing/2014/main" id="{FEEB54DD-DC41-28D4-09D9-F9474AB133F3}"/>
              </a:ext>
            </a:extLst>
          </p:cNvPr>
          <p:cNvSpPr txBox="1"/>
          <p:nvPr/>
        </p:nvSpPr>
        <p:spPr>
          <a:xfrm>
            <a:off x="843148" y="6356350"/>
            <a:ext cx="2738253" cy="369332"/>
          </a:xfrm>
          <a:prstGeom prst="rect">
            <a:avLst/>
          </a:prstGeom>
          <a:noFill/>
        </p:spPr>
        <p:txBody>
          <a:bodyPr wrap="square" rtlCol="1">
            <a:spAutoFit/>
          </a:bodyPr>
          <a:lstStyle/>
          <a:p>
            <a:pPr algn="ctr"/>
            <a:r>
              <a:rPr lang="en-US" sz="1800" dirty="0">
                <a:solidFill>
                  <a:schemeClr val="bg1"/>
                </a:solidFill>
                <a:latin typeface="Nizar Cocon Kurdish" panose="020A0503020102020204" pitchFamily="18" charset="-78"/>
                <a:cs typeface="Nizar Cocon Kurdish" panose="020A0503020102020204" pitchFamily="18" charset="-78"/>
              </a:rPr>
              <a:t>17/5/2025</a:t>
            </a:r>
            <a:endParaRPr lang="ar-EG" sz="1800" dirty="0">
              <a:solidFill>
                <a:schemeClr val="bg1"/>
              </a:solidFill>
              <a:latin typeface="Nizar Cocon Kurdish" panose="020A0503020102020204" pitchFamily="18" charset="-78"/>
              <a:cs typeface="Nizar Cocon Kurdish" panose="020A0503020102020204" pitchFamily="18" charset="-78"/>
            </a:endParaRPr>
          </a:p>
        </p:txBody>
      </p:sp>
    </p:spTree>
    <p:extLst>
      <p:ext uri="{BB962C8B-B14F-4D97-AF65-F5344CB8AC3E}">
        <p14:creationId xmlns:p14="http://schemas.microsoft.com/office/powerpoint/2010/main" val="24719630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9208D-4F0E-7180-C70F-04A2FD45C0A4}"/>
              </a:ext>
            </a:extLst>
          </p:cNvPr>
          <p:cNvSpPr>
            <a:spLocks noGrp="1"/>
          </p:cNvSpPr>
          <p:nvPr>
            <p:ph type="title"/>
          </p:nvPr>
        </p:nvSpPr>
        <p:spPr/>
        <p:txBody>
          <a:bodyPr>
            <a:normAutofit/>
          </a:bodyPr>
          <a:lstStyle/>
          <a:p>
            <a:pPr algn="ctr"/>
            <a:r>
              <a:rPr lang="en-US" sz="4000" b="1" i="0" u="none" strike="noStrike" cap="none" dirty="0">
                <a:solidFill>
                  <a:srgbClr val="2AAF82"/>
                </a:solidFill>
                <a:latin typeface="Nizar Cocon Kurdish" panose="020A0503020102020204" pitchFamily="18" charset="-78"/>
                <a:ea typeface="Arial"/>
                <a:cs typeface="Nizar Cocon Kurdish" panose="020A0503020102020204" pitchFamily="18" charset="-78"/>
                <a:sym typeface="Arial"/>
              </a:rPr>
              <a:t>Tools Used</a:t>
            </a:r>
            <a:endParaRPr lang="ar-EG" sz="4000" dirty="0">
              <a:solidFill>
                <a:srgbClr val="2AAF82"/>
              </a:solidFill>
              <a:latin typeface="Nizar Cocon Kurdish" panose="020A0503020102020204" pitchFamily="18" charset="-78"/>
              <a:cs typeface="Nizar Cocon Kurdish" panose="020A0503020102020204" pitchFamily="18" charset="-78"/>
            </a:endParaRPr>
          </a:p>
        </p:txBody>
      </p:sp>
      <p:sp>
        <p:nvSpPr>
          <p:cNvPr id="3" name="Text Placeholder 2">
            <a:extLst>
              <a:ext uri="{FF2B5EF4-FFF2-40B4-BE49-F238E27FC236}">
                <a16:creationId xmlns:a16="http://schemas.microsoft.com/office/drawing/2014/main" id="{71E79BFB-3420-2471-3D2C-BDBE91AA3A0B}"/>
              </a:ext>
            </a:extLst>
          </p:cNvPr>
          <p:cNvSpPr>
            <a:spLocks noGrp="1"/>
          </p:cNvSpPr>
          <p:nvPr>
            <p:ph type="body" idx="1"/>
          </p:nvPr>
        </p:nvSpPr>
        <p:spPr>
          <a:xfrm>
            <a:off x="838200" y="1607808"/>
            <a:ext cx="6690756" cy="4434218"/>
          </a:xfrm>
        </p:spPr>
        <p:txBody>
          <a:bodyPr>
            <a:normAutofit fontScale="92500" lnSpcReduction="20000"/>
          </a:bodyPr>
          <a:lstStyle/>
          <a:p>
            <a:r>
              <a:rPr lang="hr-HR" sz="2400" dirty="0">
                <a:latin typeface="Nizar Cocon Kurdish" panose="020A0503020102020204" pitchFamily="18" charset="-78"/>
                <a:cs typeface="Nizar Cocon Kurdish" panose="020A0503020102020204" pitchFamily="18" charset="-78"/>
              </a:rPr>
              <a:t>SQL – data cleaning &amp; preprocessing</a:t>
            </a:r>
            <a:endParaRPr lang="en-US" sz="2400" dirty="0">
              <a:latin typeface="Nizar Cocon Kurdish" panose="020A0503020102020204" pitchFamily="18" charset="-78"/>
              <a:cs typeface="Nizar Cocon Kurdish" panose="020A0503020102020204" pitchFamily="18" charset="-78"/>
            </a:endParaRPr>
          </a:p>
          <a:p>
            <a:pPr marL="114300" indent="0">
              <a:buNone/>
            </a:pPr>
            <a:endParaRPr lang="en-US" sz="2400" dirty="0">
              <a:latin typeface="Nizar Cocon Kurdish" panose="020A0503020102020204" pitchFamily="18" charset="-78"/>
              <a:cs typeface="Nizar Cocon Kurdish" panose="020A0503020102020204" pitchFamily="18" charset="-78"/>
            </a:endParaRPr>
          </a:p>
          <a:p>
            <a:r>
              <a:rPr lang="hr-HR" sz="2400" dirty="0">
                <a:latin typeface="Nizar Cocon Kurdish" panose="020A0503020102020204" pitchFamily="18" charset="-78"/>
                <a:cs typeface="Nizar Cocon Kurdish" panose="020A0503020102020204" pitchFamily="18" charset="-78"/>
              </a:rPr>
              <a:t>Python (Pandas) – data cleaning &amp; preprocessing</a:t>
            </a:r>
            <a:endParaRPr lang="en-US" sz="2400" dirty="0">
              <a:latin typeface="Nizar Cocon Kurdish" panose="020A0503020102020204" pitchFamily="18" charset="-78"/>
              <a:cs typeface="Nizar Cocon Kurdish" panose="020A0503020102020204" pitchFamily="18" charset="-78"/>
            </a:endParaRPr>
          </a:p>
          <a:p>
            <a:pPr marL="114300" indent="0">
              <a:buNone/>
            </a:pPr>
            <a:r>
              <a:rPr lang="hr-HR" sz="2400" dirty="0">
                <a:latin typeface="Nizar Cocon Kurdish" panose="020A0503020102020204" pitchFamily="18" charset="-78"/>
                <a:cs typeface="Nizar Cocon Kurdish" panose="020A0503020102020204" pitchFamily="18" charset="-78"/>
              </a:rPr>
              <a:t> </a:t>
            </a:r>
            <a:endParaRPr lang="en-US" sz="2400" dirty="0">
              <a:latin typeface="Nizar Cocon Kurdish" panose="020A0503020102020204" pitchFamily="18" charset="-78"/>
              <a:cs typeface="Nizar Cocon Kurdish" panose="020A0503020102020204" pitchFamily="18" charset="-78"/>
            </a:endParaRPr>
          </a:p>
          <a:p>
            <a:r>
              <a:rPr lang="hr-HR" sz="2400" dirty="0">
                <a:latin typeface="Nizar Cocon Kurdish" panose="020A0503020102020204" pitchFamily="18" charset="-78"/>
                <a:cs typeface="Nizar Cocon Kurdish" panose="020A0503020102020204" pitchFamily="18" charset="-78"/>
              </a:rPr>
              <a:t>Tableau – data visualization </a:t>
            </a:r>
            <a:endParaRPr lang="en-US" sz="2400" dirty="0">
              <a:latin typeface="Nizar Cocon Kurdish" panose="020A0503020102020204" pitchFamily="18" charset="-78"/>
              <a:cs typeface="Nizar Cocon Kurdish" panose="020A0503020102020204" pitchFamily="18" charset="-78"/>
            </a:endParaRPr>
          </a:p>
          <a:p>
            <a:endParaRPr lang="en-US" sz="2400" dirty="0">
              <a:latin typeface="Nizar Cocon Kurdish" panose="020A0503020102020204" pitchFamily="18" charset="-78"/>
              <a:cs typeface="Nizar Cocon Kurdish" panose="020A0503020102020204" pitchFamily="18" charset="-78"/>
            </a:endParaRPr>
          </a:p>
          <a:p>
            <a:r>
              <a:rPr lang="hr-HR" sz="2400" dirty="0">
                <a:latin typeface="Nizar Cocon Kurdish" panose="020A0503020102020204" pitchFamily="18" charset="-78"/>
                <a:cs typeface="Nizar Cocon Kurdish" panose="020A0503020102020204" pitchFamily="18" charset="-78"/>
              </a:rPr>
              <a:t>Figma – dashboard UI design </a:t>
            </a:r>
            <a:endParaRPr lang="en-US" sz="2400" dirty="0">
              <a:latin typeface="Nizar Cocon Kurdish" panose="020A0503020102020204" pitchFamily="18" charset="-78"/>
              <a:cs typeface="Nizar Cocon Kurdish" panose="020A0503020102020204" pitchFamily="18" charset="-78"/>
            </a:endParaRPr>
          </a:p>
          <a:p>
            <a:endParaRPr lang="en-US" sz="2400" dirty="0">
              <a:latin typeface="Nizar Cocon Kurdish" panose="020A0503020102020204" pitchFamily="18" charset="-78"/>
              <a:cs typeface="Nizar Cocon Kurdish" panose="020A0503020102020204" pitchFamily="18" charset="-78"/>
            </a:endParaRPr>
          </a:p>
          <a:p>
            <a:r>
              <a:rPr lang="hr-HR" sz="2400" dirty="0">
                <a:latin typeface="Nizar Cocon Kurdish" panose="020A0503020102020204" pitchFamily="18" charset="-78"/>
                <a:cs typeface="Nizar Cocon Kurdish" panose="020A0503020102020204" pitchFamily="18" charset="-78"/>
              </a:rPr>
              <a:t>Draw.io – dashboard sketching </a:t>
            </a:r>
            <a:endParaRPr lang="en-US" sz="2400" dirty="0">
              <a:latin typeface="Nizar Cocon Kurdish" panose="020A0503020102020204" pitchFamily="18" charset="-78"/>
              <a:cs typeface="Nizar Cocon Kurdish" panose="020A0503020102020204" pitchFamily="18" charset="-78"/>
            </a:endParaRPr>
          </a:p>
          <a:p>
            <a:endParaRPr lang="en-US" sz="2400" dirty="0">
              <a:latin typeface="Nizar Cocon Kurdish" panose="020A0503020102020204" pitchFamily="18" charset="-78"/>
              <a:cs typeface="Nizar Cocon Kurdish" panose="020A0503020102020204" pitchFamily="18" charset="-78"/>
            </a:endParaRPr>
          </a:p>
          <a:p>
            <a:r>
              <a:rPr lang="hr-HR" sz="2400" dirty="0">
                <a:latin typeface="Nizar Cocon Kurdish" panose="020A0503020102020204" pitchFamily="18" charset="-78"/>
                <a:cs typeface="Nizar Cocon Kurdish" panose="020A0503020102020204" pitchFamily="18" charset="-78"/>
              </a:rPr>
              <a:t>Notion – workflow documentation</a:t>
            </a:r>
            <a:endParaRPr lang="ar-EG" sz="2400" dirty="0">
              <a:latin typeface="Nizar Cocon Kurdish" panose="020A0503020102020204" pitchFamily="18" charset="-78"/>
              <a:cs typeface="Nizar Cocon Kurdish" panose="020A0503020102020204" pitchFamily="18" charset="-78"/>
            </a:endParaRPr>
          </a:p>
        </p:txBody>
      </p:sp>
      <p:sp>
        <p:nvSpPr>
          <p:cNvPr id="4" name="Slide Number Placeholder 3">
            <a:extLst>
              <a:ext uri="{FF2B5EF4-FFF2-40B4-BE49-F238E27FC236}">
                <a16:creationId xmlns:a16="http://schemas.microsoft.com/office/drawing/2014/main" id="{88122310-0BD1-2593-6524-606F46B8EF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Nizar Cocon Kurdish" panose="020A0503020102020204" pitchFamily="18" charset="-78"/>
                <a:cs typeface="Nizar Cocon Kurdish" panose="020A0503020102020204" pitchFamily="18" charset="-78"/>
              </a:rPr>
              <a:t>14</a:t>
            </a:fld>
            <a:endParaRPr lang="en-US" dirty="0">
              <a:latin typeface="Nizar Cocon Kurdish" panose="020A0503020102020204" pitchFamily="18" charset="-78"/>
              <a:cs typeface="Nizar Cocon Kurdish" panose="020A0503020102020204" pitchFamily="18" charset="-78"/>
            </a:endParaRPr>
          </a:p>
        </p:txBody>
      </p:sp>
      <p:pic>
        <p:nvPicPr>
          <p:cNvPr id="8" name="Picture 7">
            <a:extLst>
              <a:ext uri="{FF2B5EF4-FFF2-40B4-BE49-F238E27FC236}">
                <a16:creationId xmlns:a16="http://schemas.microsoft.com/office/drawing/2014/main" id="{D1CB5715-8646-0CB8-8369-7ABC1838E588}"/>
              </a:ext>
            </a:extLst>
          </p:cNvPr>
          <p:cNvPicPr>
            <a:picLocks noChangeAspect="1"/>
          </p:cNvPicPr>
          <p:nvPr/>
        </p:nvPicPr>
        <p:blipFill>
          <a:blip r:embed="rId2"/>
          <a:stretch>
            <a:fillRect/>
          </a:stretch>
        </p:blipFill>
        <p:spPr>
          <a:xfrm>
            <a:off x="6688117" y="815974"/>
            <a:ext cx="5258460" cy="4895808"/>
          </a:xfrm>
          <a:prstGeom prst="rect">
            <a:avLst/>
          </a:prstGeom>
        </p:spPr>
      </p:pic>
      <p:sp>
        <p:nvSpPr>
          <p:cNvPr id="5" name="TextBox 4">
            <a:extLst>
              <a:ext uri="{FF2B5EF4-FFF2-40B4-BE49-F238E27FC236}">
                <a16:creationId xmlns:a16="http://schemas.microsoft.com/office/drawing/2014/main" id="{37B8B297-4475-BE84-3D5A-E7D53E20E8DE}"/>
              </a:ext>
            </a:extLst>
          </p:cNvPr>
          <p:cNvSpPr txBox="1"/>
          <p:nvPr/>
        </p:nvSpPr>
        <p:spPr>
          <a:xfrm>
            <a:off x="843148" y="6356350"/>
            <a:ext cx="2738253" cy="369332"/>
          </a:xfrm>
          <a:prstGeom prst="rect">
            <a:avLst/>
          </a:prstGeom>
          <a:noFill/>
        </p:spPr>
        <p:txBody>
          <a:bodyPr wrap="square" rtlCol="1">
            <a:spAutoFit/>
          </a:bodyPr>
          <a:lstStyle/>
          <a:p>
            <a:pPr algn="ctr"/>
            <a:r>
              <a:rPr lang="en-US" sz="1800" dirty="0">
                <a:solidFill>
                  <a:schemeClr val="bg1"/>
                </a:solidFill>
                <a:latin typeface="Nizar Cocon Kurdish" panose="020A0503020102020204" pitchFamily="18" charset="-78"/>
                <a:cs typeface="Nizar Cocon Kurdish" panose="020A0503020102020204" pitchFamily="18" charset="-78"/>
              </a:rPr>
              <a:t>17/5/2025</a:t>
            </a:r>
            <a:endParaRPr lang="ar-EG" sz="1800" dirty="0">
              <a:solidFill>
                <a:schemeClr val="bg1"/>
              </a:solidFill>
              <a:latin typeface="Nizar Cocon Kurdish" panose="020A0503020102020204" pitchFamily="18" charset="-78"/>
              <a:cs typeface="Nizar Cocon Kurdish" panose="020A0503020102020204" pitchFamily="18" charset="-78"/>
            </a:endParaRPr>
          </a:p>
        </p:txBody>
      </p:sp>
    </p:spTree>
    <p:extLst>
      <p:ext uri="{BB962C8B-B14F-4D97-AF65-F5344CB8AC3E}">
        <p14:creationId xmlns:p14="http://schemas.microsoft.com/office/powerpoint/2010/main" val="3227923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63385-3F80-8F7C-C1E0-4194745A3C91}"/>
              </a:ext>
            </a:extLst>
          </p:cNvPr>
          <p:cNvSpPr>
            <a:spLocks noGrp="1"/>
          </p:cNvSpPr>
          <p:nvPr>
            <p:ph type="title"/>
          </p:nvPr>
        </p:nvSpPr>
        <p:spPr/>
        <p:txBody>
          <a:bodyPr>
            <a:normAutofit/>
          </a:bodyPr>
          <a:lstStyle/>
          <a:p>
            <a:pPr algn="ctr"/>
            <a:r>
              <a:rPr lang="hr-HR" sz="4000" dirty="0">
                <a:solidFill>
                  <a:srgbClr val="2AAF82"/>
                </a:solidFill>
                <a:latin typeface="Fredoka SemiBold" pitchFamily="2" charset="-79"/>
                <a:cs typeface="Fredoka SemiBold" pitchFamily="2" charset="-79"/>
              </a:rPr>
              <a:t>Live Application + Test</a:t>
            </a:r>
            <a:endParaRPr lang="ar-EG" sz="8800" dirty="0">
              <a:solidFill>
                <a:srgbClr val="2AAF82"/>
              </a:solidFill>
              <a:latin typeface="Fredoka SemiBold" pitchFamily="2" charset="-79"/>
              <a:cs typeface="Nizar Cocon Kurdish" panose="020A0503020102020204" pitchFamily="18" charset="-78"/>
            </a:endParaRPr>
          </a:p>
        </p:txBody>
      </p:sp>
      <p:sp>
        <p:nvSpPr>
          <p:cNvPr id="4" name="Slide Number Placeholder 3">
            <a:extLst>
              <a:ext uri="{FF2B5EF4-FFF2-40B4-BE49-F238E27FC236}">
                <a16:creationId xmlns:a16="http://schemas.microsoft.com/office/drawing/2014/main" id="{6D58C00C-E40B-9C63-7B88-A92C3812C5F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Nizar Cocon Kurdish" panose="020A0503020102020204" pitchFamily="18" charset="-78"/>
                <a:cs typeface="Nizar Cocon Kurdish" panose="020A0503020102020204" pitchFamily="18" charset="-78"/>
              </a:rPr>
              <a:t>15</a:t>
            </a:fld>
            <a:endParaRPr lang="en-US" dirty="0">
              <a:latin typeface="Nizar Cocon Kurdish" panose="020A0503020102020204" pitchFamily="18" charset="-78"/>
              <a:cs typeface="Nizar Cocon Kurdish" panose="020A0503020102020204" pitchFamily="18" charset="-78"/>
            </a:endParaRPr>
          </a:p>
        </p:txBody>
      </p:sp>
      <p:sp>
        <p:nvSpPr>
          <p:cNvPr id="3" name="TextBox 2">
            <a:extLst>
              <a:ext uri="{FF2B5EF4-FFF2-40B4-BE49-F238E27FC236}">
                <a16:creationId xmlns:a16="http://schemas.microsoft.com/office/drawing/2014/main" id="{452CB71C-446E-D774-904E-3D091356FB98}"/>
              </a:ext>
            </a:extLst>
          </p:cNvPr>
          <p:cNvSpPr txBox="1"/>
          <p:nvPr/>
        </p:nvSpPr>
        <p:spPr>
          <a:xfrm>
            <a:off x="843148" y="6356350"/>
            <a:ext cx="2738253" cy="369332"/>
          </a:xfrm>
          <a:prstGeom prst="rect">
            <a:avLst/>
          </a:prstGeom>
          <a:noFill/>
        </p:spPr>
        <p:txBody>
          <a:bodyPr wrap="square" rtlCol="1">
            <a:spAutoFit/>
          </a:bodyPr>
          <a:lstStyle/>
          <a:p>
            <a:pPr algn="ctr"/>
            <a:r>
              <a:rPr lang="en-US" sz="1800" dirty="0">
                <a:solidFill>
                  <a:schemeClr val="bg1"/>
                </a:solidFill>
                <a:latin typeface="Nizar Cocon Kurdish" panose="020A0503020102020204" pitchFamily="18" charset="-78"/>
                <a:cs typeface="Nizar Cocon Kurdish" panose="020A0503020102020204" pitchFamily="18" charset="-78"/>
              </a:rPr>
              <a:t>17/5/2025</a:t>
            </a:r>
            <a:endParaRPr lang="ar-EG" sz="1800" dirty="0">
              <a:solidFill>
                <a:schemeClr val="bg1"/>
              </a:solidFill>
              <a:latin typeface="Nizar Cocon Kurdish" panose="020A0503020102020204" pitchFamily="18" charset="-78"/>
              <a:cs typeface="Nizar Cocon Kurdish" panose="020A0503020102020204" pitchFamily="18" charset="-78"/>
            </a:endParaRPr>
          </a:p>
        </p:txBody>
      </p:sp>
      <p:sp>
        <p:nvSpPr>
          <p:cNvPr id="6" name="TextBox 5">
            <a:extLst>
              <a:ext uri="{FF2B5EF4-FFF2-40B4-BE49-F238E27FC236}">
                <a16:creationId xmlns:a16="http://schemas.microsoft.com/office/drawing/2014/main" id="{1F07EC5A-33B2-2A09-ACAC-58757EFB9D4F}"/>
              </a:ext>
            </a:extLst>
          </p:cNvPr>
          <p:cNvSpPr txBox="1"/>
          <p:nvPr/>
        </p:nvSpPr>
        <p:spPr>
          <a:xfrm>
            <a:off x="838200" y="1459695"/>
            <a:ext cx="10515600" cy="3785652"/>
          </a:xfrm>
          <a:prstGeom prst="rect">
            <a:avLst/>
          </a:prstGeom>
          <a:noFill/>
        </p:spPr>
        <p:txBody>
          <a:bodyPr wrap="square">
            <a:spAutoFit/>
          </a:bodyPr>
          <a:lstStyle/>
          <a:p>
            <a:r>
              <a:rPr lang="en-US" sz="2000" b="1" dirty="0">
                <a:latin typeface="Fredoka SemiBold" pitchFamily="2" charset="-79"/>
                <a:cs typeface="Fredoka SemiBold" pitchFamily="2" charset="-79"/>
              </a:rPr>
              <a:t>📌 Current Status:</a:t>
            </a:r>
            <a:br>
              <a:rPr lang="en-US" sz="2000" b="1" dirty="0">
                <a:latin typeface="Fredoka SemiBold" pitchFamily="2" charset="-79"/>
                <a:cs typeface="Fredoka SemiBold" pitchFamily="2" charset="-79"/>
              </a:rPr>
            </a:br>
            <a:r>
              <a:rPr lang="en-US" sz="2000" b="1" dirty="0">
                <a:solidFill>
                  <a:srgbClr val="4F4F4F"/>
                </a:solidFill>
                <a:latin typeface="Fredoka SemiBold" pitchFamily="2" charset="-79"/>
                <a:cs typeface="Fredoka SemiBold" pitchFamily="2" charset="-79"/>
              </a:rPr>
              <a:t>The project has been fully completed and presented. All dashboards and analysis outputs are functional and were tested before submission.</a:t>
            </a:r>
          </a:p>
          <a:p>
            <a:endParaRPr lang="en-US" sz="2000" b="1" dirty="0">
              <a:solidFill>
                <a:schemeClr val="tx1">
                  <a:lumMod val="50000"/>
                  <a:lumOff val="50000"/>
                </a:schemeClr>
              </a:solidFill>
              <a:latin typeface="Fredoka SemiBold" pitchFamily="2" charset="-79"/>
              <a:cs typeface="Fredoka SemiBold" pitchFamily="2" charset="-79"/>
            </a:endParaRPr>
          </a:p>
          <a:p>
            <a:r>
              <a:rPr lang="en-US" sz="2000" b="1" dirty="0">
                <a:latin typeface="Fredoka SemiBold" pitchFamily="2" charset="-79"/>
                <a:cs typeface="Fredoka SemiBold" pitchFamily="2" charset="-79"/>
              </a:rPr>
              <a:t>🧪 Testing Process:</a:t>
            </a:r>
          </a:p>
          <a:p>
            <a:pPr>
              <a:buFont typeface="Arial" panose="020B0604020202020204" pitchFamily="34" charset="0"/>
              <a:buChar char="•"/>
            </a:pPr>
            <a:r>
              <a:rPr lang="en-US" sz="2000" b="1" dirty="0">
                <a:solidFill>
                  <a:srgbClr val="4F4F4F"/>
                </a:solidFill>
                <a:latin typeface="Fredoka SemiBold" pitchFamily="2" charset="-79"/>
                <a:cs typeface="Fredoka SemiBold" pitchFamily="2" charset="-79"/>
              </a:rPr>
              <a:t>Conducted thorough data cleaning using SQL and Python to ensure consistency and accuracy.</a:t>
            </a:r>
          </a:p>
          <a:p>
            <a:pPr>
              <a:buFont typeface="Arial" panose="020B0604020202020204" pitchFamily="34" charset="0"/>
              <a:buChar char="•"/>
            </a:pPr>
            <a:r>
              <a:rPr lang="en-US" sz="2000" b="1" dirty="0">
                <a:solidFill>
                  <a:srgbClr val="4F4F4F"/>
                </a:solidFill>
                <a:latin typeface="Fredoka SemiBold" pitchFamily="2" charset="-79"/>
                <a:cs typeface="Fredoka SemiBold" pitchFamily="2" charset="-79"/>
              </a:rPr>
              <a:t>Validated key metrics (sales, profit, quantity, customer count) across different dimensions (time, region, category).</a:t>
            </a:r>
          </a:p>
          <a:p>
            <a:pPr>
              <a:buFont typeface="Arial" panose="020B0604020202020204" pitchFamily="34" charset="0"/>
              <a:buChar char="•"/>
            </a:pPr>
            <a:r>
              <a:rPr lang="en-US" sz="2000" b="1" dirty="0">
                <a:solidFill>
                  <a:srgbClr val="4F4F4F"/>
                </a:solidFill>
                <a:latin typeface="Fredoka SemiBold" pitchFamily="2" charset="-79"/>
                <a:cs typeface="Fredoka SemiBold" pitchFamily="2" charset="-79"/>
              </a:rPr>
              <a:t>Compared results with manual Excel summaries to ensure correctness.</a:t>
            </a:r>
          </a:p>
          <a:p>
            <a:pPr>
              <a:buFont typeface="Arial" panose="020B0604020202020204" pitchFamily="34" charset="0"/>
              <a:buChar char="•"/>
            </a:pPr>
            <a:r>
              <a:rPr lang="en-US" sz="2000" b="1" dirty="0">
                <a:solidFill>
                  <a:srgbClr val="4F4F4F"/>
                </a:solidFill>
                <a:latin typeface="Fredoka SemiBold" pitchFamily="2" charset="-79"/>
                <a:cs typeface="Fredoka SemiBold" pitchFamily="2" charset="-79"/>
              </a:rPr>
              <a:t>Reviewed Tableau dashboards to ensure filters, visual logic, and KPIs are working properly.</a:t>
            </a:r>
          </a:p>
        </p:txBody>
      </p:sp>
    </p:spTree>
    <p:extLst>
      <p:ext uri="{BB962C8B-B14F-4D97-AF65-F5344CB8AC3E}">
        <p14:creationId xmlns:p14="http://schemas.microsoft.com/office/powerpoint/2010/main" val="31045840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63385-3F80-8F7C-C1E0-4194745A3C91}"/>
              </a:ext>
            </a:extLst>
          </p:cNvPr>
          <p:cNvSpPr>
            <a:spLocks noGrp="1"/>
          </p:cNvSpPr>
          <p:nvPr>
            <p:ph type="title"/>
          </p:nvPr>
        </p:nvSpPr>
        <p:spPr/>
        <p:txBody>
          <a:bodyPr/>
          <a:lstStyle/>
          <a:p>
            <a:pPr algn="ctr"/>
            <a:r>
              <a:rPr lang="en-US" sz="4000" b="1" i="0" u="none" strike="noStrike" cap="none" dirty="0">
                <a:solidFill>
                  <a:srgbClr val="2AAF82"/>
                </a:solidFill>
                <a:latin typeface="Fredoka SemiBold" pitchFamily="2" charset="-79"/>
                <a:ea typeface="Arial"/>
                <a:cs typeface="Fredoka SemiBold" pitchFamily="2" charset="-79"/>
                <a:sym typeface="Arial"/>
              </a:rPr>
              <a:t>Deliverables</a:t>
            </a:r>
            <a:endParaRPr lang="ar-EG" dirty="0">
              <a:solidFill>
                <a:srgbClr val="2AAF82"/>
              </a:solidFill>
              <a:latin typeface="Fredoka SemiBold" pitchFamily="2" charset="-79"/>
              <a:cs typeface="Nizar Cocon Kurdish" panose="020A0503020102020204" pitchFamily="18" charset="-78"/>
            </a:endParaRPr>
          </a:p>
        </p:txBody>
      </p:sp>
      <p:sp>
        <p:nvSpPr>
          <p:cNvPr id="3" name="Text Placeholder 2">
            <a:extLst>
              <a:ext uri="{FF2B5EF4-FFF2-40B4-BE49-F238E27FC236}">
                <a16:creationId xmlns:a16="http://schemas.microsoft.com/office/drawing/2014/main" id="{A5A93DC1-1938-1A87-EA54-79A108D59BB9}"/>
              </a:ext>
            </a:extLst>
          </p:cNvPr>
          <p:cNvSpPr>
            <a:spLocks noGrp="1"/>
          </p:cNvSpPr>
          <p:nvPr>
            <p:ph type="body" idx="1"/>
          </p:nvPr>
        </p:nvSpPr>
        <p:spPr>
          <a:xfrm>
            <a:off x="838200" y="1555668"/>
            <a:ext cx="9825841" cy="4621295"/>
          </a:xfrm>
        </p:spPr>
        <p:txBody>
          <a:bodyPr>
            <a:normAutofit/>
          </a:bodyPr>
          <a:lstStyle/>
          <a:p>
            <a:pPr marL="114300" indent="0">
              <a:buNone/>
            </a:pPr>
            <a:r>
              <a:rPr lang="hr-HR" sz="1800" dirty="0">
                <a:latin typeface="Fredoka SemiBold" pitchFamily="2" charset="-79"/>
                <a:cs typeface="Fredoka SemiBold" pitchFamily="2" charset="-79"/>
              </a:rPr>
              <a:t>Here are the final deliverables provided at the end of the project:</a:t>
            </a:r>
          </a:p>
          <a:p>
            <a:pPr>
              <a:buFont typeface="Arial" panose="020B0604020202020204" pitchFamily="34" charset="0"/>
              <a:buChar char="•"/>
            </a:pPr>
            <a:r>
              <a:rPr lang="ar-EG" sz="1800" dirty="0">
                <a:latin typeface="Fredoka SemiBold" pitchFamily="2" charset="-79"/>
                <a:cs typeface="Nizar Cocon Kurdish" panose="020A0503020102020204" pitchFamily="18" charset="-78"/>
              </a:rPr>
              <a:t>📊 </a:t>
            </a:r>
            <a:r>
              <a:rPr lang="hr-HR" sz="1800" b="1" dirty="0">
                <a:latin typeface="Fredoka SemiBold" pitchFamily="2" charset="-79"/>
                <a:cs typeface="Fredoka SemiBold" pitchFamily="2" charset="-79"/>
              </a:rPr>
              <a:t>Tableau Dashboard File</a:t>
            </a:r>
            <a:r>
              <a:rPr lang="hr-HR" sz="1800" dirty="0">
                <a:latin typeface="Fredoka SemiBold" pitchFamily="2" charset="-79"/>
                <a:cs typeface="Fredoka SemiBold" pitchFamily="2" charset="-79"/>
              </a:rPr>
              <a:t> – </a:t>
            </a:r>
            <a:r>
              <a:rPr lang="hr-HR" sz="1800" dirty="0">
                <a:solidFill>
                  <a:srgbClr val="4F4F4F"/>
                </a:solidFill>
                <a:latin typeface="Fredoka SemiBold" pitchFamily="2" charset="-79"/>
                <a:cs typeface="Fredoka SemiBold" pitchFamily="2" charset="-79"/>
              </a:rPr>
              <a:t>Contains the interactive visualizations.</a:t>
            </a:r>
          </a:p>
          <a:p>
            <a:pPr>
              <a:buFont typeface="Arial" panose="020B0604020202020204" pitchFamily="34" charset="0"/>
              <a:buChar char="•"/>
            </a:pPr>
            <a:r>
              <a:rPr lang="ar-EG" sz="1800" dirty="0">
                <a:latin typeface="Fredoka SemiBold" pitchFamily="2" charset="-79"/>
                <a:cs typeface="Nizar Cocon Kurdish" panose="020A0503020102020204" pitchFamily="18" charset="-78"/>
              </a:rPr>
              <a:t>🐍 </a:t>
            </a:r>
            <a:r>
              <a:rPr lang="hr-HR" sz="1800" b="1" dirty="0">
                <a:latin typeface="Fredoka SemiBold" pitchFamily="2" charset="-79"/>
                <a:cs typeface="Fredoka SemiBold" pitchFamily="2" charset="-79"/>
              </a:rPr>
              <a:t>Jupyter Notebook</a:t>
            </a:r>
            <a:r>
              <a:rPr lang="hr-HR" sz="1800" dirty="0">
                <a:latin typeface="Fredoka SemiBold" pitchFamily="2" charset="-79"/>
                <a:cs typeface="Fredoka SemiBold" pitchFamily="2" charset="-79"/>
              </a:rPr>
              <a:t> – </a:t>
            </a:r>
            <a:r>
              <a:rPr lang="hr-HR" sz="1800" dirty="0">
                <a:solidFill>
                  <a:schemeClr val="tx1">
                    <a:lumMod val="65000"/>
                    <a:lumOff val="35000"/>
                  </a:schemeClr>
                </a:solidFill>
                <a:latin typeface="Fredoka SemiBold" pitchFamily="2" charset="-79"/>
                <a:cs typeface="Fredoka SemiBold" pitchFamily="2" charset="-79"/>
              </a:rPr>
              <a:t>Used for data cleaning and preprocessing with Python (Pandas).</a:t>
            </a:r>
          </a:p>
          <a:p>
            <a:pPr>
              <a:buFont typeface="Arial" panose="020B0604020202020204" pitchFamily="34" charset="0"/>
              <a:buChar char="•"/>
            </a:pPr>
            <a:r>
              <a:rPr lang="ar-EG" sz="1800" dirty="0">
                <a:latin typeface="Fredoka SemiBold" pitchFamily="2" charset="-79"/>
                <a:cs typeface="Nizar Cocon Kurdish" panose="020A0503020102020204" pitchFamily="18" charset="-78"/>
              </a:rPr>
              <a:t>🛢️ </a:t>
            </a:r>
            <a:r>
              <a:rPr lang="hr-HR" sz="1800" b="1" dirty="0">
                <a:latin typeface="Fredoka SemiBold" pitchFamily="2" charset="-79"/>
                <a:cs typeface="Fredoka SemiBold" pitchFamily="2" charset="-79"/>
              </a:rPr>
              <a:t>SQL Script File</a:t>
            </a:r>
            <a:r>
              <a:rPr lang="hr-HR" sz="1800" dirty="0">
                <a:latin typeface="Fredoka SemiBold" pitchFamily="2" charset="-79"/>
                <a:cs typeface="Fredoka SemiBold" pitchFamily="2" charset="-79"/>
              </a:rPr>
              <a:t> – </a:t>
            </a:r>
            <a:r>
              <a:rPr lang="hr-HR" sz="1800" dirty="0">
                <a:solidFill>
                  <a:schemeClr val="tx1">
                    <a:lumMod val="65000"/>
                    <a:lumOff val="35000"/>
                  </a:schemeClr>
                </a:solidFill>
                <a:latin typeface="Fredoka SemiBold" pitchFamily="2" charset="-79"/>
                <a:cs typeface="Fredoka SemiBold" pitchFamily="2" charset="-79"/>
              </a:rPr>
              <a:t>Includes queries for data cleaning and transformation.</a:t>
            </a:r>
          </a:p>
          <a:p>
            <a:pPr>
              <a:buFont typeface="Arial" panose="020B0604020202020204" pitchFamily="34" charset="0"/>
              <a:buChar char="•"/>
            </a:pPr>
            <a:r>
              <a:rPr lang="ar-EG" sz="1800" dirty="0">
                <a:latin typeface="Fredoka SemiBold" pitchFamily="2" charset="-79"/>
                <a:cs typeface="Nizar Cocon Kurdish" panose="020A0503020102020204" pitchFamily="18" charset="-78"/>
              </a:rPr>
              <a:t>🧩 </a:t>
            </a:r>
            <a:r>
              <a:rPr lang="hr-HR" sz="1800" b="1" dirty="0">
                <a:latin typeface="Fredoka SemiBold" pitchFamily="2" charset="-79"/>
                <a:cs typeface="Fredoka SemiBold" pitchFamily="2" charset="-79"/>
              </a:rPr>
              <a:t>Draw.io File</a:t>
            </a:r>
            <a:r>
              <a:rPr lang="hr-HR" sz="1800" dirty="0">
                <a:latin typeface="Fredoka SemiBold" pitchFamily="2" charset="-79"/>
                <a:cs typeface="Fredoka SemiBold" pitchFamily="2" charset="-79"/>
              </a:rPr>
              <a:t> – </a:t>
            </a:r>
            <a:r>
              <a:rPr lang="hr-HR" sz="1800" dirty="0">
                <a:solidFill>
                  <a:schemeClr val="tx1">
                    <a:lumMod val="65000"/>
                    <a:lumOff val="35000"/>
                  </a:schemeClr>
                </a:solidFill>
                <a:latin typeface="Fredoka SemiBold" pitchFamily="2" charset="-79"/>
                <a:cs typeface="Fredoka SemiBold" pitchFamily="2" charset="-79"/>
              </a:rPr>
              <a:t>Used to sketch the dashboard layout and data schema.</a:t>
            </a:r>
          </a:p>
          <a:p>
            <a:pPr>
              <a:buFont typeface="Arial" panose="020B0604020202020204" pitchFamily="34" charset="0"/>
              <a:buChar char="•"/>
            </a:pPr>
            <a:r>
              <a:rPr lang="ar-EG" sz="1800" dirty="0">
                <a:latin typeface="Fredoka SemiBold" pitchFamily="2" charset="-79"/>
                <a:cs typeface="Nizar Cocon Kurdish" panose="020A0503020102020204" pitchFamily="18" charset="-78"/>
              </a:rPr>
              <a:t>🎨 </a:t>
            </a:r>
            <a:r>
              <a:rPr lang="hr-HR" sz="1800" b="1" dirty="0">
                <a:latin typeface="Fredoka SemiBold" pitchFamily="2" charset="-79"/>
                <a:cs typeface="Fredoka SemiBold" pitchFamily="2" charset="-79"/>
              </a:rPr>
              <a:t>Figma Designs (Images)</a:t>
            </a:r>
            <a:r>
              <a:rPr lang="hr-HR" sz="1800" dirty="0">
                <a:latin typeface="Fredoka SemiBold" pitchFamily="2" charset="-79"/>
                <a:cs typeface="Fredoka SemiBold" pitchFamily="2" charset="-79"/>
              </a:rPr>
              <a:t> – </a:t>
            </a:r>
            <a:r>
              <a:rPr lang="hr-HR" sz="1800" dirty="0">
                <a:solidFill>
                  <a:schemeClr val="tx1">
                    <a:lumMod val="65000"/>
                    <a:lumOff val="35000"/>
                  </a:schemeClr>
                </a:solidFill>
                <a:latin typeface="Fredoka SemiBold" pitchFamily="2" charset="-79"/>
                <a:cs typeface="Fredoka SemiBold" pitchFamily="2" charset="-79"/>
              </a:rPr>
              <a:t>Dashboard UI design mockups.</a:t>
            </a:r>
          </a:p>
          <a:p>
            <a:pPr>
              <a:buFont typeface="Arial" panose="020B0604020202020204" pitchFamily="34" charset="0"/>
              <a:buChar char="•"/>
            </a:pPr>
            <a:r>
              <a:rPr lang="ar-EG" sz="1800" dirty="0">
                <a:latin typeface="Fredoka SemiBold" pitchFamily="2" charset="-79"/>
                <a:cs typeface="Nizar Cocon Kurdish" panose="020A0503020102020204" pitchFamily="18" charset="-78"/>
              </a:rPr>
              <a:t>❓ </a:t>
            </a:r>
            <a:r>
              <a:rPr lang="hr-HR" sz="1800" b="1" dirty="0">
                <a:latin typeface="Fredoka SemiBold" pitchFamily="2" charset="-79"/>
                <a:cs typeface="Fredoka SemiBold" pitchFamily="2" charset="-79"/>
              </a:rPr>
              <a:t>Business Questions (PDF)</a:t>
            </a:r>
            <a:r>
              <a:rPr lang="hr-HR" sz="1800" dirty="0">
                <a:latin typeface="Fredoka SemiBold" pitchFamily="2" charset="-79"/>
                <a:cs typeface="Fredoka SemiBold" pitchFamily="2" charset="-79"/>
              </a:rPr>
              <a:t> – </a:t>
            </a:r>
            <a:r>
              <a:rPr lang="hr-HR" sz="1800" dirty="0">
                <a:solidFill>
                  <a:schemeClr val="tx1">
                    <a:lumMod val="65000"/>
                    <a:lumOff val="35000"/>
                  </a:schemeClr>
                </a:solidFill>
                <a:latin typeface="Fredoka SemiBold" pitchFamily="2" charset="-79"/>
                <a:cs typeface="Fredoka SemiBold" pitchFamily="2" charset="-79"/>
              </a:rPr>
              <a:t>Document listing the business questions addressed in the analysis.</a:t>
            </a:r>
          </a:p>
          <a:p>
            <a:pPr>
              <a:buFont typeface="Arial" panose="020B0604020202020204" pitchFamily="34" charset="0"/>
              <a:buChar char="•"/>
            </a:pPr>
            <a:r>
              <a:rPr lang="ar-EG" sz="1800" dirty="0">
                <a:latin typeface="Fredoka SemiBold" pitchFamily="2" charset="-79"/>
                <a:cs typeface="Nizar Cocon Kurdish" panose="020A0503020102020204" pitchFamily="18" charset="-78"/>
              </a:rPr>
              <a:t>📝 </a:t>
            </a:r>
            <a:r>
              <a:rPr lang="hr-HR" sz="1800" b="1" dirty="0">
                <a:latin typeface="Fredoka SemiBold" pitchFamily="2" charset="-79"/>
                <a:cs typeface="Fredoka SemiBold" pitchFamily="2" charset="-79"/>
              </a:rPr>
              <a:t>Final Report (PDF)</a:t>
            </a:r>
            <a:r>
              <a:rPr lang="hr-HR" sz="1800" dirty="0">
                <a:latin typeface="Fredoka SemiBold" pitchFamily="2" charset="-79"/>
                <a:cs typeface="Fredoka SemiBold" pitchFamily="2" charset="-79"/>
              </a:rPr>
              <a:t> – </a:t>
            </a:r>
            <a:r>
              <a:rPr lang="hr-HR" sz="1800" dirty="0">
                <a:solidFill>
                  <a:schemeClr val="tx1">
                    <a:lumMod val="65000"/>
                    <a:lumOff val="35000"/>
                  </a:schemeClr>
                </a:solidFill>
                <a:latin typeface="Fredoka SemiBold" pitchFamily="2" charset="-79"/>
                <a:cs typeface="Fredoka SemiBold" pitchFamily="2" charset="-79"/>
              </a:rPr>
              <a:t>Detailed summary of the entire project, including methodology and insights.</a:t>
            </a:r>
          </a:p>
          <a:p>
            <a:pPr>
              <a:buFont typeface="Arial" panose="020B0604020202020204" pitchFamily="34" charset="0"/>
              <a:buChar char="•"/>
            </a:pPr>
            <a:r>
              <a:rPr lang="ar-EG" sz="1800" dirty="0">
                <a:latin typeface="Fredoka SemiBold" pitchFamily="2" charset="-79"/>
                <a:cs typeface="Nizar Cocon Kurdish" panose="020A0503020102020204" pitchFamily="18" charset="-78"/>
              </a:rPr>
              <a:t>📽️ </a:t>
            </a:r>
            <a:r>
              <a:rPr lang="hr-HR" sz="1800" b="1" dirty="0">
                <a:latin typeface="Fredoka SemiBold" pitchFamily="2" charset="-79"/>
                <a:cs typeface="Fredoka SemiBold" pitchFamily="2" charset="-79"/>
              </a:rPr>
              <a:t>Presentation File</a:t>
            </a:r>
            <a:r>
              <a:rPr lang="hr-HR" sz="1800" dirty="0">
                <a:latin typeface="Fredoka SemiBold" pitchFamily="2" charset="-79"/>
                <a:cs typeface="Fredoka SemiBold" pitchFamily="2" charset="-79"/>
              </a:rPr>
              <a:t> – </a:t>
            </a:r>
            <a:r>
              <a:rPr lang="hr-HR" sz="1800" dirty="0">
                <a:solidFill>
                  <a:schemeClr val="tx1">
                    <a:lumMod val="65000"/>
                    <a:lumOff val="35000"/>
                  </a:schemeClr>
                </a:solidFill>
                <a:latin typeface="Fredoka SemiBold" pitchFamily="2" charset="-79"/>
                <a:cs typeface="Fredoka SemiBold" pitchFamily="2" charset="-79"/>
              </a:rPr>
              <a:t>PowerPoint or PDF presentation summarizing the project.</a:t>
            </a:r>
          </a:p>
        </p:txBody>
      </p:sp>
      <p:sp>
        <p:nvSpPr>
          <p:cNvPr id="4" name="Slide Number Placeholder 3">
            <a:extLst>
              <a:ext uri="{FF2B5EF4-FFF2-40B4-BE49-F238E27FC236}">
                <a16:creationId xmlns:a16="http://schemas.microsoft.com/office/drawing/2014/main" id="{6D58C00C-E40B-9C63-7B88-A92C3812C5F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Nizar Cocon Kurdish" panose="020A0503020102020204" pitchFamily="18" charset="-78"/>
                <a:cs typeface="Nizar Cocon Kurdish" panose="020A0503020102020204" pitchFamily="18" charset="-78"/>
              </a:rPr>
              <a:t>16</a:t>
            </a:fld>
            <a:endParaRPr lang="en-US" dirty="0">
              <a:latin typeface="Nizar Cocon Kurdish" panose="020A0503020102020204" pitchFamily="18" charset="-78"/>
              <a:cs typeface="Nizar Cocon Kurdish" panose="020A0503020102020204" pitchFamily="18" charset="-78"/>
            </a:endParaRPr>
          </a:p>
        </p:txBody>
      </p:sp>
      <p:sp>
        <p:nvSpPr>
          <p:cNvPr id="5" name="TextBox 4">
            <a:extLst>
              <a:ext uri="{FF2B5EF4-FFF2-40B4-BE49-F238E27FC236}">
                <a16:creationId xmlns:a16="http://schemas.microsoft.com/office/drawing/2014/main" id="{C2A036B2-8FBF-661A-C0AE-65FC6B867D2B}"/>
              </a:ext>
            </a:extLst>
          </p:cNvPr>
          <p:cNvSpPr txBox="1"/>
          <p:nvPr/>
        </p:nvSpPr>
        <p:spPr>
          <a:xfrm>
            <a:off x="843148" y="6356350"/>
            <a:ext cx="2738253" cy="369332"/>
          </a:xfrm>
          <a:prstGeom prst="rect">
            <a:avLst/>
          </a:prstGeom>
          <a:noFill/>
        </p:spPr>
        <p:txBody>
          <a:bodyPr wrap="square" rtlCol="1">
            <a:spAutoFit/>
          </a:bodyPr>
          <a:lstStyle/>
          <a:p>
            <a:pPr algn="ctr"/>
            <a:r>
              <a:rPr lang="en-US" sz="1800" dirty="0">
                <a:solidFill>
                  <a:schemeClr val="bg1"/>
                </a:solidFill>
                <a:latin typeface="Nizar Cocon Kurdish" panose="020A0503020102020204" pitchFamily="18" charset="-78"/>
                <a:cs typeface="Nizar Cocon Kurdish" panose="020A0503020102020204" pitchFamily="18" charset="-78"/>
              </a:rPr>
              <a:t>17/5/2025</a:t>
            </a:r>
            <a:endParaRPr lang="ar-EG" sz="1800" dirty="0">
              <a:solidFill>
                <a:schemeClr val="bg1"/>
              </a:solidFill>
              <a:latin typeface="Nizar Cocon Kurdish" panose="020A0503020102020204" pitchFamily="18" charset="-78"/>
              <a:cs typeface="Nizar Cocon Kurdish" panose="020A0503020102020204" pitchFamily="18" charset="-78"/>
            </a:endParaRPr>
          </a:p>
        </p:txBody>
      </p:sp>
    </p:spTree>
    <p:extLst>
      <p:ext uri="{BB962C8B-B14F-4D97-AF65-F5344CB8AC3E}">
        <p14:creationId xmlns:p14="http://schemas.microsoft.com/office/powerpoint/2010/main" val="20720004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E0B1C0-81F3-E4A4-E507-B14CCA7C09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Nizar Cocon Kurdish" panose="020A0503020102020204" pitchFamily="18" charset="-78"/>
                <a:cs typeface="Nizar Cocon Kurdish" panose="020A0503020102020204" pitchFamily="18" charset="-78"/>
              </a:rPr>
              <a:t>17</a:t>
            </a:fld>
            <a:endParaRPr lang="en-US" dirty="0">
              <a:latin typeface="Nizar Cocon Kurdish" panose="020A0503020102020204" pitchFamily="18" charset="-78"/>
              <a:cs typeface="Nizar Cocon Kurdish" panose="020A0503020102020204" pitchFamily="18" charset="-78"/>
            </a:endParaRPr>
          </a:p>
        </p:txBody>
      </p:sp>
      <p:sp>
        <p:nvSpPr>
          <p:cNvPr id="3" name="TextBox 2">
            <a:extLst>
              <a:ext uri="{FF2B5EF4-FFF2-40B4-BE49-F238E27FC236}">
                <a16:creationId xmlns:a16="http://schemas.microsoft.com/office/drawing/2014/main" id="{D0C230A7-F2F5-7EF5-419E-EA76599C1B83}"/>
              </a:ext>
            </a:extLst>
          </p:cNvPr>
          <p:cNvSpPr txBox="1"/>
          <p:nvPr/>
        </p:nvSpPr>
        <p:spPr>
          <a:xfrm>
            <a:off x="843148" y="6356350"/>
            <a:ext cx="2738253" cy="369332"/>
          </a:xfrm>
          <a:prstGeom prst="rect">
            <a:avLst/>
          </a:prstGeom>
          <a:noFill/>
        </p:spPr>
        <p:txBody>
          <a:bodyPr wrap="square" rtlCol="1">
            <a:spAutoFit/>
          </a:bodyPr>
          <a:lstStyle/>
          <a:p>
            <a:pPr algn="ctr"/>
            <a:r>
              <a:rPr lang="en-US" sz="1800" dirty="0">
                <a:solidFill>
                  <a:schemeClr val="bg1"/>
                </a:solidFill>
                <a:latin typeface="Nizar Cocon Kurdish" panose="020A0503020102020204" pitchFamily="18" charset="-78"/>
                <a:cs typeface="Nizar Cocon Kurdish" panose="020A0503020102020204" pitchFamily="18" charset="-78"/>
              </a:rPr>
              <a:t>17/5/2025</a:t>
            </a:r>
            <a:endParaRPr lang="ar-EG" sz="1800" dirty="0">
              <a:solidFill>
                <a:schemeClr val="bg1"/>
              </a:solidFill>
              <a:latin typeface="Nizar Cocon Kurdish" panose="020A0503020102020204" pitchFamily="18" charset="-78"/>
              <a:cs typeface="Nizar Cocon Kurdish" panose="020A0503020102020204" pitchFamily="18" charset="-78"/>
            </a:endParaRPr>
          </a:p>
        </p:txBody>
      </p:sp>
      <p:pic>
        <p:nvPicPr>
          <p:cNvPr id="5" name="Picture 4" descr="A screenshot of a computer&#10;&#10;AI-generated content may be incorrect.">
            <a:extLst>
              <a:ext uri="{FF2B5EF4-FFF2-40B4-BE49-F238E27FC236}">
                <a16:creationId xmlns:a16="http://schemas.microsoft.com/office/drawing/2014/main" id="{DF8D6401-615E-AEA0-4663-354651878D1F}"/>
              </a:ext>
            </a:extLst>
          </p:cNvPr>
          <p:cNvPicPr>
            <a:picLocks noChangeAspect="1"/>
          </p:cNvPicPr>
          <p:nvPr/>
        </p:nvPicPr>
        <p:blipFill>
          <a:blip r:embed="rId2"/>
          <a:stretch>
            <a:fillRect/>
          </a:stretch>
        </p:blipFill>
        <p:spPr>
          <a:xfrm>
            <a:off x="1096488" y="636294"/>
            <a:ext cx="9999023" cy="5324155"/>
          </a:xfrm>
          <a:prstGeom prst="rect">
            <a:avLst/>
          </a:prstGeom>
        </p:spPr>
      </p:pic>
    </p:spTree>
    <p:extLst>
      <p:ext uri="{BB962C8B-B14F-4D97-AF65-F5344CB8AC3E}">
        <p14:creationId xmlns:p14="http://schemas.microsoft.com/office/powerpoint/2010/main" val="24666420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E0B1C0-81F3-E4A4-E507-B14CCA7C09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Nizar Cocon Kurdish" panose="020A0503020102020204" pitchFamily="18" charset="-78"/>
                <a:cs typeface="Nizar Cocon Kurdish" panose="020A0503020102020204" pitchFamily="18" charset="-78"/>
              </a:rPr>
              <a:t>18</a:t>
            </a:fld>
            <a:endParaRPr lang="en-US" dirty="0">
              <a:latin typeface="Nizar Cocon Kurdish" panose="020A0503020102020204" pitchFamily="18" charset="-78"/>
              <a:cs typeface="Nizar Cocon Kurdish" panose="020A0503020102020204" pitchFamily="18" charset="-78"/>
            </a:endParaRPr>
          </a:p>
        </p:txBody>
      </p:sp>
      <p:pic>
        <p:nvPicPr>
          <p:cNvPr id="4" name="Picture 3">
            <a:extLst>
              <a:ext uri="{FF2B5EF4-FFF2-40B4-BE49-F238E27FC236}">
                <a16:creationId xmlns:a16="http://schemas.microsoft.com/office/drawing/2014/main" id="{F83BCAE0-28C9-C356-1DFC-ECEBF086132B}"/>
              </a:ext>
            </a:extLst>
          </p:cNvPr>
          <p:cNvPicPr>
            <a:picLocks noChangeAspect="1"/>
          </p:cNvPicPr>
          <p:nvPr/>
        </p:nvPicPr>
        <p:blipFill>
          <a:blip r:embed="rId2"/>
          <a:stretch>
            <a:fillRect/>
          </a:stretch>
        </p:blipFill>
        <p:spPr>
          <a:xfrm>
            <a:off x="6410698" y="676894"/>
            <a:ext cx="3338944" cy="5144267"/>
          </a:xfrm>
          <a:prstGeom prst="rect">
            <a:avLst/>
          </a:prstGeom>
        </p:spPr>
      </p:pic>
      <p:sp>
        <p:nvSpPr>
          <p:cNvPr id="6" name="TextBox 5">
            <a:extLst>
              <a:ext uri="{FF2B5EF4-FFF2-40B4-BE49-F238E27FC236}">
                <a16:creationId xmlns:a16="http://schemas.microsoft.com/office/drawing/2014/main" id="{F8A123D9-A6D8-CAFA-6D82-D9B5916DD277}"/>
              </a:ext>
            </a:extLst>
          </p:cNvPr>
          <p:cNvSpPr txBox="1"/>
          <p:nvPr/>
        </p:nvSpPr>
        <p:spPr>
          <a:xfrm>
            <a:off x="970813" y="1613118"/>
            <a:ext cx="4454234" cy="3631763"/>
          </a:xfrm>
          <a:prstGeom prst="rect">
            <a:avLst/>
          </a:prstGeom>
          <a:noFill/>
        </p:spPr>
        <p:txBody>
          <a:bodyPr wrap="square" rtlCol="1">
            <a:spAutoFit/>
          </a:bodyPr>
          <a:lstStyle/>
          <a:p>
            <a:r>
              <a:rPr lang="en-US" sz="11500" dirty="0">
                <a:solidFill>
                  <a:srgbClr val="2AAF82"/>
                </a:solidFill>
                <a:latin typeface="Nizar Cocon Kurdish" panose="020A0503020102020204" pitchFamily="18" charset="-78"/>
                <a:cs typeface="Nizar Cocon Kurdish" panose="020A0503020102020204" pitchFamily="18" charset="-78"/>
              </a:rPr>
              <a:t>THANK </a:t>
            </a:r>
            <a:br>
              <a:rPr lang="en-US" sz="11500" dirty="0">
                <a:solidFill>
                  <a:srgbClr val="2AAF82"/>
                </a:solidFill>
                <a:latin typeface="Nizar Cocon Kurdish" panose="020A0503020102020204" pitchFamily="18" charset="-78"/>
                <a:cs typeface="Nizar Cocon Kurdish" panose="020A0503020102020204" pitchFamily="18" charset="-78"/>
              </a:rPr>
            </a:br>
            <a:r>
              <a:rPr lang="en-US" sz="11500" dirty="0">
                <a:solidFill>
                  <a:srgbClr val="2AAF82"/>
                </a:solidFill>
                <a:latin typeface="Nizar Cocon Kurdish" panose="020A0503020102020204" pitchFamily="18" charset="-78"/>
                <a:cs typeface="Nizar Cocon Kurdish" panose="020A0503020102020204" pitchFamily="18" charset="-78"/>
              </a:rPr>
              <a:t>YOU!</a:t>
            </a:r>
            <a:endParaRPr lang="ar-EG" sz="11500" dirty="0">
              <a:solidFill>
                <a:srgbClr val="2AAF82"/>
              </a:solidFill>
              <a:latin typeface="Nizar Cocon Kurdish" panose="020A0503020102020204" pitchFamily="18" charset="-78"/>
              <a:cs typeface="Nizar Cocon Kurdish" panose="020A0503020102020204" pitchFamily="18" charset="-78"/>
            </a:endParaRPr>
          </a:p>
        </p:txBody>
      </p:sp>
      <p:pic>
        <p:nvPicPr>
          <p:cNvPr id="10" name="Graphic 9" descr="Angel face outline with solid fill">
            <a:extLst>
              <a:ext uri="{FF2B5EF4-FFF2-40B4-BE49-F238E27FC236}">
                <a16:creationId xmlns:a16="http://schemas.microsoft.com/office/drawing/2014/main" id="{F4CDED5B-15DB-9603-BB6B-BDF060BD6F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74080" y="3743697"/>
            <a:ext cx="914400" cy="914400"/>
          </a:xfrm>
          <a:prstGeom prst="rect">
            <a:avLst/>
          </a:prstGeom>
        </p:spPr>
      </p:pic>
      <p:sp>
        <p:nvSpPr>
          <p:cNvPr id="3" name="TextBox 2">
            <a:extLst>
              <a:ext uri="{FF2B5EF4-FFF2-40B4-BE49-F238E27FC236}">
                <a16:creationId xmlns:a16="http://schemas.microsoft.com/office/drawing/2014/main" id="{B37CBF75-F16A-5874-3B83-DC3D8420F24A}"/>
              </a:ext>
            </a:extLst>
          </p:cNvPr>
          <p:cNvSpPr txBox="1"/>
          <p:nvPr/>
        </p:nvSpPr>
        <p:spPr>
          <a:xfrm>
            <a:off x="843148" y="6356350"/>
            <a:ext cx="2738253" cy="369332"/>
          </a:xfrm>
          <a:prstGeom prst="rect">
            <a:avLst/>
          </a:prstGeom>
          <a:noFill/>
        </p:spPr>
        <p:txBody>
          <a:bodyPr wrap="square" rtlCol="1">
            <a:spAutoFit/>
          </a:bodyPr>
          <a:lstStyle/>
          <a:p>
            <a:pPr algn="ctr"/>
            <a:r>
              <a:rPr lang="en-US" sz="1800" dirty="0">
                <a:solidFill>
                  <a:schemeClr val="bg1"/>
                </a:solidFill>
                <a:latin typeface="Nizar Cocon Kurdish" panose="020A0503020102020204" pitchFamily="18" charset="-78"/>
                <a:cs typeface="Nizar Cocon Kurdish" panose="020A0503020102020204" pitchFamily="18" charset="-78"/>
              </a:rPr>
              <a:t>17/5/2025</a:t>
            </a:r>
            <a:endParaRPr lang="ar-EG" sz="1800" dirty="0">
              <a:solidFill>
                <a:schemeClr val="bg1"/>
              </a:solidFill>
              <a:latin typeface="Nizar Cocon Kurdish" panose="020A0503020102020204" pitchFamily="18" charset="-78"/>
              <a:cs typeface="Nizar Cocon Kurdish" panose="020A0503020102020204" pitchFamily="18" charset="-78"/>
            </a:endParaRPr>
          </a:p>
        </p:txBody>
      </p:sp>
    </p:spTree>
    <p:extLst>
      <p:ext uri="{BB962C8B-B14F-4D97-AF65-F5344CB8AC3E}">
        <p14:creationId xmlns:p14="http://schemas.microsoft.com/office/powerpoint/2010/main" val="9310543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1699</TotalTime>
  <Words>1169</Words>
  <Application>Microsoft Office PowerPoint</Application>
  <PresentationFormat>Widescreen</PresentationFormat>
  <Paragraphs>137</Paragraphs>
  <Slides>18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Fredoka SemiBold</vt:lpstr>
      <vt:lpstr>Calibri</vt:lpstr>
      <vt:lpstr>Nizar Cocon Kurdish</vt:lpstr>
      <vt:lpstr>Office Theme</vt:lpstr>
      <vt:lpstr>PowerPoint Presentation</vt:lpstr>
      <vt:lpstr>Project Idea</vt:lpstr>
      <vt:lpstr>PowerPoint Presentation</vt:lpstr>
      <vt:lpstr>Visual Layout</vt:lpstr>
      <vt:lpstr>User Journey:</vt:lpstr>
      <vt:lpstr>Focus on Usability:</vt:lpstr>
      <vt:lpstr>PowerPoint Presentation</vt:lpstr>
      <vt:lpstr>PowerPoint Presentation</vt:lpstr>
      <vt:lpstr>PowerPoint Presentation</vt:lpstr>
      <vt:lpstr>PowerPoint Presentation</vt:lpstr>
      <vt:lpstr>End Users</vt:lpstr>
      <vt:lpstr>Key Features &amp; Benefits:</vt:lpstr>
      <vt:lpstr>Data Structure</vt:lpstr>
      <vt:lpstr>Tools Used</vt:lpstr>
      <vt:lpstr>Live Application + Test</vt:lpstr>
      <vt:lpstr>Deliverables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SAMA</dc:creator>
  <cp:lastModifiedBy>Omar Hamdy</cp:lastModifiedBy>
  <cp:revision>74</cp:revision>
  <dcterms:created xsi:type="dcterms:W3CDTF">2024-03-14T10:03:54Z</dcterms:created>
  <dcterms:modified xsi:type="dcterms:W3CDTF">2025-05-09T08:41:58Z</dcterms:modified>
</cp:coreProperties>
</file>